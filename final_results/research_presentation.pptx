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509814ed5d4812" /><Relationship Type="http://schemas.openxmlformats.org/officeDocument/2006/relationships/extended-properties" Target="/docProps/app.xml" Id="R7b71b6365cc44eae" /><Relationship Type="http://schemas.openxmlformats.org/officeDocument/2006/relationships/officeDocument" Target="/ppt/presentation.xml" Id="Re7be9c55b6d24283" /></Relationships>
</file>

<file path=ppt/presentation.xml><?xml version="1.0" encoding="utf-8"?>
<p:presentation xmlns:p="http://schemas.openxmlformats.org/presentationml/2006/main">
  <p:sldMasterIdLst>
    <p:sldMasterId xmlns:r="http://schemas.openxmlformats.org/officeDocument/2006/relationships" id="2147483648" r:id="R05a673bce04f4270"/>
  </p:sldMasterIdLst>
  <p:notesMasterIdLst>
    <p:notesMasterId xmlns:r="http://schemas.openxmlformats.org/officeDocument/2006/relationships" r:id="Rb1c9c4381b53477a"/>
  </p:notesMasterIdLst>
  <p:sldIdLst>
    <p:sldId xmlns:r="http://schemas.openxmlformats.org/officeDocument/2006/relationships" id="256" r:id="R117a9ade429d476d"/>
    <p:sldId xmlns:r="http://schemas.openxmlformats.org/officeDocument/2006/relationships" id="257" r:id="Red328ce0383d43b1"/>
    <p:sldId xmlns:r="http://schemas.openxmlformats.org/officeDocument/2006/relationships" id="258" r:id="R3895aff9510c48ef"/>
    <p:sldId xmlns:r="http://schemas.openxmlformats.org/officeDocument/2006/relationships" id="259" r:id="R5e73664cf37e40c7"/>
    <p:sldId xmlns:r="http://schemas.openxmlformats.org/officeDocument/2006/relationships" id="260" r:id="Rdb5db037ca4f46e1"/>
    <p:sldId xmlns:r="http://schemas.openxmlformats.org/officeDocument/2006/relationships" id="261" r:id="R0c3c090ebf554f58"/>
    <p:sldId xmlns:r="http://schemas.openxmlformats.org/officeDocument/2006/relationships" id="262" r:id="R3f2a2d587bcf4921"/>
    <p:sldId xmlns:r="http://schemas.openxmlformats.org/officeDocument/2006/relationships" id="263" r:id="Rd5674445f3e04d44"/>
    <p:sldId xmlns:r="http://schemas.openxmlformats.org/officeDocument/2006/relationships" id="264" r:id="R22e3fba48bce4351"/>
    <p:sldId xmlns:r="http://schemas.openxmlformats.org/officeDocument/2006/relationships" id="265" r:id="R46b58376e8ab41c3"/>
    <p:sldId xmlns:r="http://schemas.openxmlformats.org/officeDocument/2006/relationships" id="266" r:id="R88780e0e32404332"/>
    <p:sldId xmlns:r="http://schemas.openxmlformats.org/officeDocument/2006/relationships" id="267" r:id="Rb6104247bbd44402"/>
    <p:sldId xmlns:r="http://schemas.openxmlformats.org/officeDocument/2006/relationships" id="268" r:id="Rd0d80f567269411c"/>
    <p:sldId xmlns:r="http://schemas.openxmlformats.org/officeDocument/2006/relationships" id="269" r:id="R9f82383598574fab"/>
    <p:sldId xmlns:r="http://schemas.openxmlformats.org/officeDocument/2006/relationships" id="270" r:id="R36282e7c0ed646d8"/>
    <p:sldId xmlns:r="http://schemas.openxmlformats.org/officeDocument/2006/relationships" id="271" r:id="R0a9af1b8a0944434"/>
    <p:sldId xmlns:r="http://schemas.openxmlformats.org/officeDocument/2006/relationships" id="272" r:id="R1b6b55f53fe9424e"/>
    <p:sldId xmlns:r="http://schemas.openxmlformats.org/officeDocument/2006/relationships" id="273" r:id="R726745a3951c4db9"/>
    <p:sldId xmlns:r="http://schemas.openxmlformats.org/officeDocument/2006/relationships" id="274" r:id="R9069bc96483e49d3"/>
    <p:sldId xmlns:r="http://schemas.openxmlformats.org/officeDocument/2006/relationships" id="275" r:id="R4b055adba7974d4e"/>
    <p:sldId xmlns:r="http://schemas.openxmlformats.org/officeDocument/2006/relationships" id="276" r:id="Rd9a38a5c326342a8"/>
    <p:sldId xmlns:r="http://schemas.openxmlformats.org/officeDocument/2006/relationships" id="277" r:id="R625790ef2f514f26"/>
    <p:sldId xmlns:r="http://schemas.openxmlformats.org/officeDocument/2006/relationships" id="278" r:id="Re15bd7d4c5824e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6c26ecda804322" /><Relationship Type="http://schemas.openxmlformats.org/officeDocument/2006/relationships/slideMaster" Target="/ppt/slideMasters/slideMaster1.xml" Id="R05a673bce04f4270" /><Relationship Type="http://schemas.openxmlformats.org/officeDocument/2006/relationships/notesMaster" Target="/ppt/notesMasters/notesMaster1.xml" Id="Rb1c9c4381b53477a" /><Relationship Type="http://schemas.openxmlformats.org/officeDocument/2006/relationships/presProps" Target="/ppt/presProps.xml" Id="Re0d391d5940b4f2a" /><Relationship Type="http://schemas.openxmlformats.org/officeDocument/2006/relationships/tableStyles" Target="/ppt/tableStyles.xml" Id="R466e2c7ef0974b22" /><Relationship Type="http://schemas.openxmlformats.org/officeDocument/2006/relationships/slide" Target="/ppt/slides/slide1.xml" Id="R117a9ade429d476d" /><Relationship Type="http://schemas.openxmlformats.org/officeDocument/2006/relationships/slide" Target="/ppt/slides/slide2.xml" Id="Red328ce0383d43b1" /><Relationship Type="http://schemas.openxmlformats.org/officeDocument/2006/relationships/slide" Target="/ppt/slides/slide3.xml" Id="R3895aff9510c48ef" /><Relationship Type="http://schemas.openxmlformats.org/officeDocument/2006/relationships/slide" Target="/ppt/slides/slide4.xml" Id="R5e73664cf37e40c7" /><Relationship Type="http://schemas.openxmlformats.org/officeDocument/2006/relationships/slide" Target="/ppt/slides/slide5.xml" Id="Rdb5db037ca4f46e1" /><Relationship Type="http://schemas.openxmlformats.org/officeDocument/2006/relationships/slide" Target="/ppt/slides/slide6.xml" Id="R0c3c090ebf554f58" /><Relationship Type="http://schemas.openxmlformats.org/officeDocument/2006/relationships/slide" Target="/ppt/slides/slide7.xml" Id="R3f2a2d587bcf4921" /><Relationship Type="http://schemas.openxmlformats.org/officeDocument/2006/relationships/slide" Target="/ppt/slides/slide8.xml" Id="Rd5674445f3e04d44" /><Relationship Type="http://schemas.openxmlformats.org/officeDocument/2006/relationships/slide" Target="/ppt/slides/slide9.xml" Id="R22e3fba48bce4351" /><Relationship Type="http://schemas.openxmlformats.org/officeDocument/2006/relationships/slide" Target="/ppt/slides/slide10.xml" Id="R46b58376e8ab41c3" /><Relationship Type="http://schemas.openxmlformats.org/officeDocument/2006/relationships/slide" Target="/ppt/slides/slide11.xml" Id="R88780e0e32404332" /><Relationship Type="http://schemas.openxmlformats.org/officeDocument/2006/relationships/slide" Target="/ppt/slides/slide12.xml" Id="Rb6104247bbd44402" /><Relationship Type="http://schemas.openxmlformats.org/officeDocument/2006/relationships/slide" Target="/ppt/slides/slide13.xml" Id="Rd0d80f567269411c" /><Relationship Type="http://schemas.openxmlformats.org/officeDocument/2006/relationships/slide" Target="/ppt/slides/slide14.xml" Id="R9f82383598574fab" /><Relationship Type="http://schemas.openxmlformats.org/officeDocument/2006/relationships/slide" Target="/ppt/slides/slide15.xml" Id="R36282e7c0ed646d8" /><Relationship Type="http://schemas.openxmlformats.org/officeDocument/2006/relationships/slide" Target="/ppt/slides/slide16.xml" Id="R0a9af1b8a0944434" /><Relationship Type="http://schemas.openxmlformats.org/officeDocument/2006/relationships/slide" Target="/ppt/slides/slide17.xml" Id="R1b6b55f53fe9424e" /><Relationship Type="http://schemas.openxmlformats.org/officeDocument/2006/relationships/slide" Target="/ppt/slides/slide18.xml" Id="R726745a3951c4db9" /><Relationship Type="http://schemas.openxmlformats.org/officeDocument/2006/relationships/slide" Target="/ppt/slides/slide19.xml" Id="R9069bc96483e49d3" /><Relationship Type="http://schemas.openxmlformats.org/officeDocument/2006/relationships/slide" Target="/ppt/slides/slide20.xml" Id="R4b055adba7974d4e" /><Relationship Type="http://schemas.openxmlformats.org/officeDocument/2006/relationships/slide" Target="/ppt/slides/slide21.xml" Id="Rd9a38a5c326342a8" /><Relationship Type="http://schemas.openxmlformats.org/officeDocument/2006/relationships/slide" Target="/ppt/slides/slide22.xml" Id="R625790ef2f514f26" /><Relationship Type="http://schemas.openxmlformats.org/officeDocument/2006/relationships/slide" Target="/ppt/slides/slide23.xml" Id="Re15bd7d4c5824e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1ffcc1d22e44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a4de202d224877" /><Relationship Type="http://schemas.openxmlformats.org/officeDocument/2006/relationships/notesMaster" Target="/ppt/notesMasters/notesMaster1.xml" Id="Ra4d11b3e1bf1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40f6ecc8f94c33" /><Relationship Type="http://schemas.openxmlformats.org/officeDocument/2006/relationships/notesMaster" Target="/ppt/notesMasters/notesMaster1.xml" Id="Rb1ca9b80fa0448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50544e9bc44f31" /><Relationship Type="http://schemas.openxmlformats.org/officeDocument/2006/relationships/notesMaster" Target="/ppt/notesMasters/notesMaster1.xml" Id="Rba5d86cd94084b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9b9c2c54bc4fd7" /><Relationship Type="http://schemas.openxmlformats.org/officeDocument/2006/relationships/notesMaster" Target="/ppt/notesMasters/notesMaster1.xml" Id="R47d92f71489c46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3e17d8f8f04a4d" /><Relationship Type="http://schemas.openxmlformats.org/officeDocument/2006/relationships/notesMaster" Target="/ppt/notesMasters/notesMaster1.xml" Id="R783634c3be1743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177e720c1f4a0c" /><Relationship Type="http://schemas.openxmlformats.org/officeDocument/2006/relationships/notesMaster" Target="/ppt/notesMasters/notesMaster1.xml" Id="R54b8465ab1364d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5736692f074a49" /><Relationship Type="http://schemas.openxmlformats.org/officeDocument/2006/relationships/notesMaster" Target="/ppt/notesMasters/notesMaster1.xml" Id="Rb1465c0b5d9a4b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e661546ff543f8" /><Relationship Type="http://schemas.openxmlformats.org/officeDocument/2006/relationships/notesMaster" Target="/ppt/notesMasters/notesMaster1.xml" Id="R82dfe3fd6a7f44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58c8c72c724e54" /><Relationship Type="http://schemas.openxmlformats.org/officeDocument/2006/relationships/notesMaster" Target="/ppt/notesMasters/notesMaster1.xml" Id="Rf7dc9807c2bd44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6f589e29724cba" /><Relationship Type="http://schemas.openxmlformats.org/officeDocument/2006/relationships/notesMaster" Target="/ppt/notesMasters/notesMaster1.xml" Id="Rb5766f19261440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eb3023aa9d47c8" /><Relationship Type="http://schemas.openxmlformats.org/officeDocument/2006/relationships/notesMaster" Target="/ppt/notesMasters/notesMaster1.xml" Id="R485f0a9aa8ff44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ecf79089654414" /><Relationship Type="http://schemas.openxmlformats.org/officeDocument/2006/relationships/notesMaster" Target="/ppt/notesMasters/notesMaster1.xml" Id="R86b9fe09815e45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be1fad69334399" /><Relationship Type="http://schemas.openxmlformats.org/officeDocument/2006/relationships/notesMaster" Target="/ppt/notesMasters/notesMaster1.xml" Id="Redc3075ad28f4e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ff40a02a98404f" /><Relationship Type="http://schemas.openxmlformats.org/officeDocument/2006/relationships/notesMaster" Target="/ppt/notesMasters/notesMaster1.xml" Id="R48036bc2de924a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a5b7708bc44db4" /><Relationship Type="http://schemas.openxmlformats.org/officeDocument/2006/relationships/notesMaster" Target="/ppt/notesMasters/notesMaster1.xml" Id="Ra895dbb4438c4a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217d9bd7524277" /><Relationship Type="http://schemas.openxmlformats.org/officeDocument/2006/relationships/notesMaster" Target="/ppt/notesMasters/notesMaster1.xml" Id="Rff574360828345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363d77a6bb4ff1" /><Relationship Type="http://schemas.openxmlformats.org/officeDocument/2006/relationships/notesMaster" Target="/ppt/notesMasters/notesMaster1.xml" Id="R4c0dbd7cedc142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0c07a873634c96" /><Relationship Type="http://schemas.openxmlformats.org/officeDocument/2006/relationships/notesMaster" Target="/ppt/notesMasters/notesMaster1.xml" Id="R48d743b405c44f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8c0e5508d234e80" /><Relationship Type="http://schemas.openxmlformats.org/officeDocument/2006/relationships/notesMaster" Target="/ppt/notesMasters/notesMaster1.xml" Id="R8621fa171efc47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0e1ae21c5f84e1e" /><Relationship Type="http://schemas.openxmlformats.org/officeDocument/2006/relationships/notesMaster" Target="/ppt/notesMasters/notesMaster1.xml" Id="R46c37068c6a146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c7966bc17a4a49" /><Relationship Type="http://schemas.openxmlformats.org/officeDocument/2006/relationships/notesMaster" Target="/ppt/notesMasters/notesMaster1.xml" Id="R8a9d27e3ad5540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67838db30341d6" /><Relationship Type="http://schemas.openxmlformats.org/officeDocument/2006/relationships/notesMaster" Target="/ppt/notesMasters/notesMaster1.xml" Id="R4b00eb6182484aa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664b725e9b48d1" /><Relationship Type="http://schemas.openxmlformats.org/officeDocument/2006/relationships/notesMaster" Target="/ppt/notesMasters/notesMaster1.xml" Id="R05752e4ccb5746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begin with the Blended RAG paper we chose, then explain our reproduction, its limits and results. We next describe the indexed implementation and compare its results with our first version. The expected contribution is a careful measurement of query cost under recall constraints, not a new retrieval algorithm. This is a bounded engineering study. No new dataset or model run was performed for this presentation. Suggested talk length: 15–20 minutes for slides 1–19. Slides 20–23 are appendices.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Sawarkar, Mangal and Solanki study keyword, dense-vector and learned-sparse retrieval with hybrid field queries. Their implementation uses Elasticsearch and ELSER. The published TREC nDCG and SQuAD answer values are reference results from that paper. Our system did not reproduce them. The paper motivates complementary retrieval signals, while this project investigates the runtime cost of always executing them. CoQA appears in the paper’s discussion of metadata-poor documents. Source: https://arxiv.org/html/2404.07220v2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contribution was an inspectable test of whether a BM25-first gate can reduce query time while respecting an explicit recall target. We also wanted to distinguish the gain from indexed lexical execution from the additional gain due to routing, and to compare the cascade with simpler retrievers. These are empirical engineering questions. Conditional retrieval and indexed sparse scoring already have prior work, so we make no algorithmic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first baseline results from our Python adaptation on the overlapping paper datasets. Using the same datasets lets us compare our own implementation stages. It does not reproduce the original Elasticsearch and ELSER system or support a direct speed comparison with it. On TREC-COVID the r90 setting retains 84.53 percent recall and saves 3.56 percent mean time. On full-query SQuAD retrieval it retains 99.38 percent and saves 6.12 percent, with one complete timing pass. In the TREC run, BM25 itself takes 1410.14 milliseconds out of 1493.23 milliseconds for fusion. This showed that the gate paid most of the cost before deciding whether to skip neural retrieval.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reproduce the use of complementary retrieval signals and Best Fields lexical scoring, then make declared substitutions. Our accessible Python implementation uses MiniLM, SPLADE and RRF. The original paper studies a different search engine, sparse model and query formulations. We also construct an explicit SQuAD paragraph corpus. These differences prevent direct equivalence of quality or latency numbers. Source: https://arxiv.org/html/2404.07220v2. Project method: docs/FINAL_MANUSCRIPT.md,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is the ratio of mean Recall@100 values. It is not the overlap of two result lists and it does not imply the same quality for every query. In TREC, many documents can be relevant for a topic. Recovering at least one relevant item gives a hit, while recall asks how much of the relevant set was recovered. Our primary retains 96.68 percent of a reference recall near 0.12250, giving absolute recall near 0.11844. nDCG evaluates ranking order and relevance, while EM and F1 evaluate generated answers.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cascade query first executes Best Fields BM25. Eleven features from the query and initial lexical ranking feed a standardized Ridge regressor. The regressor predicts clipped recall gain from escalation. A small predicted gain returns BM25 immediately. A larger prediction executes Dense and SPLADE and fuses those rankings with the already-computed BM25 result. Inference does not use evaluation relevance labels. Methods do not borrow precomputed neural query results from one another. Sources: experiments 12 and 25; frozen router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calibration uses five-fold out-of-fold predictions on 2590 NFCorpus train queries, seed 42. A Ridge model with alpha 10 predicts nonnegative gain. Each policy limits the sum of observed clipped losses over the queries selected for exit. The final exported model fits all training queries. Training calibration is an empirical procedure and does not guarantee transfer to a new distribution. All four policies remain frozen in the reported follow-ups. Source: results/nfcorpus_frozen_retention_routers.json and experiment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NFCorpus dev is inspected development evidence. SCIDOCS is frozen confirmation. Original paper-dataset runs declared r90 primary. The indexed follow-up declared r99 primary against a 90 percent floor, using already-inspected TREC quality evidence. It therefore tests compatible execution rather than new independent TREC generalization. Timings include query encoding, retrieval and routing with GPU synchronization, one CPU thread and randomized order. Corpus encoding, index preparation, model loading, downloads and answer generation are outside the timing window. Source: frozen protocols and main manuscript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conservative r99 policy was preselected as primary for the indexed engineering follow-up. It takes 73.90 milliseconds against indexed fusion at 91.28 milliseconds, giving 1.2351 times speedup, rounded to 1.24. This 1.24x isolates routing because both methods use indexed BM25. Against our earlier, non-indexed fusion run, the same cascade is 20.21x faster across separate runs; that ratio combines indexing and routing. The indexing-only comparison is 16.36x. These are comparisons within our implementation, not against the original paper system. The cascade retains 96.68 percent of fusion recall, with an interval of 93.58 to 98.75 percent. Mean time saved is 19.04 percent against indexed fusion. The primary p95 is slightly higher than indexed fusion, so the claim concerns mean time.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frozen settings remain visible. r95 is the fastest secondary point above 90 percent observed retention. Its retention interval is 86.88 to 95.76 percent and crosses the floor. r92 and r90 both retain 84.53 percent, so their greater speed does not meet the requested quality budget. The 99/95/92/90 names refer to training calibration, and every nominal target still misses on TREC. The fair additional-routing comparison is against the same indexed fusion backend.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progression divides our original, non-indexed fusion latency by indexed method latency. For primary r99, 20.21x is the combined observed ratio: 16.36x comes from indexed fusion alone, and 1.24x compares indexed cascade against indexed fusion. These separate runs include session variation, so they describe measured configurations rather than a causal decomposition. The larger settings reach 26.83x/35.56x/36.96x against our original fusion but do not meet the requested quality floor. These are not comparisons with the original Blended RAG system.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indexed SQuAD result uses 256 fixed SHA-selected questions with the full 20958-document corpus. The fastest secondary setting r90 takes 18.59 milliseconds and retains 99.22 percent of fusion recall, producing 1.59 times speedup over indexed fusion. Its retention interval is 98.05 to 100 percent. The primary retains 100 percent sampled recall at 1.04 times. Original evidence covers 10570 questions with one complete pass plus separately preserved partial repetitions. Cross-run ratios use the same 256 questions, not the full-query original mean.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fusion reference is useful for measuring what the cascade preserves, but it is not automatically the best efficient action. On TREC, SPLADE has higher recall and nDCG than the primary at lower mean time. The primary has higher MAP, 0.01769 versus 0.01662. On sampled SQuAD, BM25 alone exceeds the 90 percent recall floor at 1.03 milliseconds, and SPLADE has the highest nDCG and MAP. Thus a fusion-relative cascade gain does not establish overall superiority under a recall/time objective.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runs are part of the evidence, not discarded failures. The NFCorpus development primary r92 retains 94.74 percent and saves 23 percent mean time. Frozen SCIDOCS r92 retains 90.01 percent and saves only 5.53 percent, with a retention interval crossing 90. Every nominal target fails on SCIDOCS and TREC. Dense is a stronger recall/time action than the cascades on NFCorpus and SCIDOCS. These observations motivate the first-stage investigation and limit any universal transfer claim. Source: final_quality_speed.csv and the original benchmark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every saved first-pass result across original and indexed backends on the same query IDs. The 400 TREC records and 2048 sampled SQuAD records match in ranked IDs, scores, routes and recall. Independent scorers reproduce quality against exact raw relevance labels, and frozen source and weight hashes identify the executed code. These checks validate saved artifacts and quality calculations. They do not independently verify the GPU clock or establish production behavior. Source: experiments 22, 29, 30 and 31; recorded local verification and metric-check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remains organized around retrieval modules, numbered experiments, frozen result protocols and compact saved reports. The indexed backend changes how lexical scores execute while preserving score definitions. Benchmark 25 executes the indexed cascade; import and scoring helpers check returned evidence. The publication builders only consume saved reports. They do not run neural encoding, training or query timing. The source-sharing ZIP excludes local datasets, environments and bulk query rankings. Their original exports are identified separately in the artifact catalog. Source: repository module indexes and reproduction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study does not evaluate full current NQ, HotpotQA or CoQA. Earlier NQ used a relevance-informed candidate pool and simulated routing, so it cannot establish full-corpus savings for this cascade. A next study should predeclare a new evaluation protocol, test generated-answer EM/F1 and modern adaptive baselines, then measure multiple hardware types, concurrent load, energy and index memory/update costs. It should retain strong standalone retrievers as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met its bounded engineering aim: it optimized the lexical stage, compared routing against an equally indexed reference, and reported a real quality/time trade-off. Against our earlier fusion run, the TREC primary is 20.21 times faster at 96.68 percent indexed-fusion recall retention. The fastest indexed SQuAD setting is 7.91 times faster at 99.22 percent on the same 256-question sample. The additional routing-only gains are 1.24 times over indexed fusion on TREC and 1.59 times on SQuAD. The findings are limited by small query scopes in some results, one GPU type, previously inspected TREC quality, and stronger standalone alternatives. The work supports an implementation finding, not a new algorithm or overall superiority.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final_results/assets/results.json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verified for this release: https://arxiv.org/html/2404.07220v2</a:t>
            </a:r>
          </a:p>
          <a:p xmlns:a="http://schemas.openxmlformats.org/drawingml/2006/main">
            <a:r>
              <a:t>https://arxiv.org/abs/2109.10739</a:t>
            </a:r>
          </a:p>
          <a:p xmlns:a="http://schemas.openxmlformats.org/drawingml/2006/main">
            <a:r>
              <a:t>https://arxiv.org/abs/2407.03618</a:t>
            </a:r>
          </a:p>
          <a:p xmlns:a="http://schemas.openxmlformats.org/drawingml/2006/main">
            <a:r>
              <a:t>https://arxiv.org/abs/2104.08663</a:t>
            </a:r>
          </a:p>
          <a:p xmlns:a="http://schemas.openxmlformats.org/drawingml/2006/main">
            <a:r>
              <a:t>https://arxiv.org/abs/1606.05250</a:t>
            </a:r>
          </a:p>
          <a:p xmlns:a="http://schemas.openxmlformats.org/drawingml/2006/main">
            <a:r>
              <a:t>https://arxiv.org/abs/2107.05720</a:t>
            </a:r>
          </a:p>
          <a:p xmlns:a="http://schemas.openxmlformats.org/drawingml/2006/main">
            <a:r>
              <a:t>https://arxiv.org/abs/1908.10084. The main manuscript provides full bibliographic details. Sources for each measured claim appear in the corresponding speaker notes and the shared results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rebuild figures, run experiment 32 from the repository root using the documented analysis requirements. To rebuild the release figures, paper and HTML, use the publication tools and requirements. The editable presentation builder uses the bundled Codex Artifact Tool runtime. Headless browser rendering creates the showcase PDF. Exact commands and required environment variables appear in final_results/README.md. No new Kaggle run is necessary to read or regenerate current result plots. Full record-level rescoring needs original matching result archives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13c17dbee740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8f123f2d824cc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5f70563d8746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4906fac7794f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f935ad9a1b40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af642f71aa4d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FFC646-5EC6-4A22-8426-288A2D9CA3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0976E6-88BB-488F-991C-D96139655A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85EA76-47A4-40A6-A47B-775FCFD27B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C13E57-8A96-4EC7-8390-824683E5A7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F63A7C-EB38-4656-8644-4CD9FD7535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612038-0236-43BA-9CFE-431EA81343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4D5364-69FA-4432-A8C6-DBDAA201F6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CF9090-5C4E-4B60-B50E-5EAF7E0B4F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A9A226-289B-4574-8F1B-778C677761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44ABFE-397E-4836-B141-71957150AC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24f9e0bec64f91" /><Relationship Type="http://schemas.openxmlformats.org/officeDocument/2006/relationships/slideLayout" Target="/ppt/slideLayouts/slideLayout1.xml" Id="R094c51f43b3a4519" /><Relationship Type="http://schemas.openxmlformats.org/officeDocument/2006/relationships/slideLayout" Target="/ppt/slideLayouts/slideLayout2.xml" Id="R11e7ce21fc8041b6" /><Relationship Type="http://schemas.openxmlformats.org/officeDocument/2006/relationships/slideLayout" Target="/ppt/slideLayouts/slideLayout3.xml" Id="Re4e1198fc1114513" /><Relationship Type="http://schemas.openxmlformats.org/officeDocument/2006/relationships/slideLayout" Target="/ppt/slideLayouts/slideLayout4.xml" Id="Rb7db60ddf39f43ad" /><Relationship Type="http://schemas.openxmlformats.org/officeDocument/2006/relationships/slideLayout" Target="/ppt/slideLayouts/slideLayout5.xml" Id="Rc98a68960566481b" /><Relationship Type="http://schemas.openxmlformats.org/officeDocument/2006/relationships/slideLayout" Target="/ppt/slideLayouts/slideLayout6.xml" Id="R1247a062c5694a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4c51f43b3a4519"/>
    <p:sldLayoutId xmlns:r="http://schemas.openxmlformats.org/officeDocument/2006/relationships" id="2147483650" r:id="R11e7ce21fc8041b6"/>
    <p:sldLayoutId xmlns:r="http://schemas.openxmlformats.org/officeDocument/2006/relationships" id="2147483651" r:id="Re4e1198fc1114513"/>
    <p:sldLayoutId xmlns:r="http://schemas.openxmlformats.org/officeDocument/2006/relationships" id="2147483652" r:id="Rb7db60ddf39f43ad"/>
    <p:sldLayoutId xmlns:r="http://schemas.openxmlformats.org/officeDocument/2006/relationships" id="2147483653" r:id="Rc98a68960566481b"/>
    <p:sldLayoutId xmlns:r="http://schemas.openxmlformats.org/officeDocument/2006/relationships" id="2147483654" r:id="R1247a062c5694a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9a608b966b4b40" /><Relationship Type="http://schemas.openxmlformats.org/officeDocument/2006/relationships/notesSlide" Target="/ppt/notesSlides/notesSlide1.xml" Id="Rc9ee938bdea446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b89f247d7d4ac1" /><Relationship Type="http://schemas.openxmlformats.org/officeDocument/2006/relationships/notesSlide" Target="/ppt/notesSlides/notesSlide2.xml" Id="R2cd1d3dc9b9e43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4946d57131444d" /><Relationship Type="http://schemas.openxmlformats.org/officeDocument/2006/relationships/notesSlide" Target="/ppt/notesSlides/notesSlide3.xml" Id="Reaedce840e4449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1d9ddff4cc4dcb" /><Relationship Type="http://schemas.openxmlformats.org/officeDocument/2006/relationships/notesSlide" Target="/ppt/notesSlides/notesSlide4.xml" Id="R0df69be277b847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88017c976f4d7b" /><Relationship Type="http://schemas.openxmlformats.org/officeDocument/2006/relationships/notesSlide" Target="/ppt/notesSlides/notesSlide5.xml" Id="R04da4b6fb70943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0cc11dc0edd4db8" /><Relationship Type="http://schemas.openxmlformats.org/officeDocument/2006/relationships/notesSlide" Target="/ppt/notesSlides/notesSlide6.xml" Id="Re21901a83b1746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8fb83e8ee24b2c" /><Relationship Type="http://schemas.openxmlformats.org/officeDocument/2006/relationships/notesSlide" Target="/ppt/notesSlides/notesSlide7.xml" Id="Rcdc7f0f3771c4e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435e1b13974af3" /><Relationship Type="http://schemas.openxmlformats.org/officeDocument/2006/relationships/notesSlide" Target="/ppt/notesSlides/notesSlide8.xml" Id="R082643c8038748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c8a070f23043ec" /><Relationship Type="http://schemas.openxmlformats.org/officeDocument/2006/relationships/notesSlide" Target="/ppt/notesSlides/notesSlide9.xml" Id="R8896ea23a7dd48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8b14cb914214004" /><Relationship Type="http://schemas.openxmlformats.org/officeDocument/2006/relationships/notesSlide" Target="/ppt/notesSlides/notesSlide10.xml" Id="R724dfb9b23ea49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cdbd833e189408b" /><Relationship Type="http://schemas.openxmlformats.org/officeDocument/2006/relationships/notesSlide" Target="/ppt/notesSlides/notesSlide11.xml" Id="R7dc9dd7f2b2744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07bb0200c5b4e39" /><Relationship Type="http://schemas.openxmlformats.org/officeDocument/2006/relationships/chart" Target="/ppt/slides/charts/chart1.xml" Id="R19b06e6501c34697" /><Relationship Type="http://schemas.openxmlformats.org/officeDocument/2006/relationships/notesSlide" Target="/ppt/notesSlides/notesSlide12.xml" Id="Red3ea63ca26848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1fbb1d98cc94f50" /><Relationship Type="http://schemas.openxmlformats.org/officeDocument/2006/relationships/chart" Target="/ppt/slides/charts/chart2.xml" Id="R1ad608e927ce458b" /><Relationship Type="http://schemas.openxmlformats.org/officeDocument/2006/relationships/notesSlide" Target="/ppt/notesSlides/notesSlide13.xml" Id="Rc3eac8b35b5b49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ac048d428d04108" /><Relationship Type="http://schemas.openxmlformats.org/officeDocument/2006/relationships/notesSlide" Target="/ppt/notesSlides/notesSlide14.xml" Id="R701402229b3b40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669266ce644382" /><Relationship Type="http://schemas.openxmlformats.org/officeDocument/2006/relationships/notesSlide" Target="/ppt/notesSlides/notesSlide15.xml" Id="Rd4ea2ad797c047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44a5c643e7d4fce" /><Relationship Type="http://schemas.openxmlformats.org/officeDocument/2006/relationships/notesSlide" Target="/ppt/notesSlides/notesSlide16.xml" Id="R5419da4e921544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05cb7dc204d4837" /><Relationship Type="http://schemas.openxmlformats.org/officeDocument/2006/relationships/notesSlide" Target="/ppt/notesSlides/notesSlide17.xml" Id="R7d1575081fcb49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1ecbef246254e7c" /><Relationship Type="http://schemas.openxmlformats.org/officeDocument/2006/relationships/notesSlide" Target="/ppt/notesSlides/notesSlide18.xml" Id="R234f3d6dc49447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b88564e1a974f74" /><Relationship Type="http://schemas.openxmlformats.org/officeDocument/2006/relationships/notesSlide" Target="/ppt/notesSlides/notesSlide19.xml" Id="R0986add136ed49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4cd1834d8b64417" /><Relationship Type="http://schemas.openxmlformats.org/officeDocument/2006/relationships/notesSlide" Target="/ppt/notesSlides/notesSlide20.xml" Id="Rb8cd74e0877e44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389618111b140d3" /><Relationship Type="http://schemas.openxmlformats.org/officeDocument/2006/relationships/notesSlide" Target="/ppt/notesSlides/notesSlide21.xml" Id="R287cfaba554f4b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9c775b253b2440d" /><Relationship Type="http://schemas.openxmlformats.org/officeDocument/2006/relationships/notesSlide" Target="/ppt/notesSlides/notesSlide22.xml" Id="R3c222f5ec8bb4c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abc97fbb79a4336" /><Relationship Type="http://schemas.openxmlformats.org/officeDocument/2006/relationships/notesSlide" Target="/ppt/notesSlides/notesSlide23.xml" Id="R0558c4ffb6b546c2" /></Relationships>
</file>

<file path=ppt/slides/charts/chart1.xml><?xml version="1.0" encoding="utf-8"?>
<c:chartSpace xmlns:c="http://schemas.openxmlformats.org/drawingml/2006/chart">
  <c:lang val="en-US"/>
  <c:chart>
    <c:plotArea>
      <c:barChart>
        <c:barDir val="col"/>
        <c:grouping val="clustered"/>
        <c:varyColors val="0"/>
        <c:ser>
          <c:idx val="0"/>
          <c:order val="0"/>
          <c:tx>
            <c:v>vs original fusion</c:v>
          </c:tx>
          <c:spPr>
            <a:solidFill xmlns:a="http://schemas.openxmlformats.org/drawingml/2006/main">
              <a:srgbClr val="17656A"/>
            </a:solidFill>
          </c:spPr>
          <c:invertIfNegative val="0"/>
          <c:cat>
            <c:strLit>
              <c:ptCount val="6"/>
              <c:pt idx="0">
                <c:v>Original</c:v>
              </c:pt>
              <c:pt idx="1">
                <c:v>Indexed</c:v>
              </c:pt>
              <c:pt idx="2">
                <c:v>r99</c:v>
              </c:pt>
              <c:pt idx="3">
                <c:v>r95</c:v>
              </c:pt>
              <c:pt idx="4">
                <c:v>r92</c:v>
              </c:pt>
              <c:pt idx="5">
                <c:v>r90</c:v>
              </c:pt>
            </c:strLit>
          </c:cat>
          <c:val>
            <c:numLit>
              <c:formatCode>0.0"x"</c:formatCode>
              <c:ptCount val="6"/>
              <c:pt idx="0">
                <c:v>1</c:v>
              </c:pt>
              <c:pt idx="1">
                <c:v>16.35858</c:v>
              </c:pt>
              <c:pt idx="2">
                <c:v>20.205071</c:v>
              </c:pt>
              <c:pt idx="3">
                <c:v>26.826403</c:v>
              </c:pt>
              <c:pt idx="4">
                <c:v>35.55957</c:v>
              </c:pt>
              <c:pt idx="5">
                <c:v>36.956189</c:v>
              </c:pt>
            </c:numLit>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43"/>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vs indexed fusion</c:v>
          </c:tx>
          <c:spPr>
            <a:solidFill xmlns:a="http://schemas.openxmlformats.org/drawingml/2006/main">
              <a:srgbClr val="17656A"/>
            </a:solidFill>
          </c:spPr>
          <c:invertIfNegative val="0"/>
          <c:cat>
            <c:strLit>
              <c:ptCount val="5"/>
              <c:pt idx="0">
                <c:v>Fusion</c:v>
              </c:pt>
              <c:pt idx="1">
                <c:v>r99</c:v>
              </c:pt>
              <c:pt idx="2">
                <c:v>r95</c:v>
              </c:pt>
              <c:pt idx="3">
                <c:v>r92</c:v>
              </c:pt>
              <c:pt idx="4">
                <c:v>r90</c:v>
              </c:pt>
            </c:strLit>
          </c:cat>
          <c:val>
            <c:numLit>
              <c:formatCode>0.0"x"</c:formatCode>
              <c:ptCount val="5"/>
              <c:pt idx="0">
                <c:v>1</c:v>
              </c:pt>
              <c:pt idx="1">
                <c:v>1.043736</c:v>
              </c:pt>
              <c:pt idx="2">
                <c:v>1.190349</c:v>
              </c:pt>
              <c:pt idx="3">
                <c:v>1.386788</c:v>
              </c:pt>
              <c:pt idx="4">
                <c:v>1.589439</c:v>
              </c:pt>
            </c:numLit>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85"/>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533F6E-14F3-4C77-834D-BAD74B555269}"/>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01</a:t>
            </a:r>
          </a:p>
        </p:txBody>
      </p:sp>
      <p:sp>
        <p:nvSpPr>
          <p:cNvPr id="2" name="">
            <a:extLst xmlns:a="http://schemas.openxmlformats.org/drawingml/2006/main">
              <a:ext uri="{FF2B5EF4-FFF2-40B4-BE49-F238E27FC236}">
                <a16:creationId xmlns:a16="http://schemas.microsoft.com/office/drawing/2014/main" id="{75EA1C13-1B54-4BFC-9B9D-2EFD33E1C881}"/>
              </a:ext>
            </a:extLst>
          </p:cNvPr>
          <p:cNvSpPr>
            <a:spLocks xmlns:a="http://schemas.openxmlformats.org/drawingml/2006/main" noGrp="1"/>
          </p:cNvSpPr>
          <p:nvPr/>
        </p:nvSpPr>
        <p:spPr>
          <a:xfrm xmlns:a="http://schemas.openxmlformats.org/drawingml/2006/main">
            <a:off x="609600" y="119062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242B2B"/>
                </a:solidFill>
                <a:latin typeface="Newsreader"/>
                <a:ea typeface="Newsreader"/>
                <a:cs typeface="Newsreader"/>
              </a:defRPr>
            </a:defPPr>
          </a:lstStyle>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Conditional</a:t>
            </a:r>
          </a:p>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hybrid retrieval</a:t>
            </a:r>
          </a:p>
        </p:txBody>
      </p:sp>
      <p:sp>
        <p:nvSpPr>
          <p:cNvPr id="3" name="">
            <a:extLst xmlns:a="http://schemas.openxmlformats.org/drawingml/2006/main">
              <a:ext uri="{FF2B5EF4-FFF2-40B4-BE49-F238E27FC236}">
                <a16:creationId xmlns:a16="http://schemas.microsoft.com/office/drawing/2014/main" id="{AAA5D0ED-535C-47AD-B136-CEFC6E3511F6}"/>
              </a:ext>
            </a:extLst>
          </p:cNvPr>
          <p:cNvSpPr>
            <a:spLocks xmlns:a="http://schemas.openxmlformats.org/drawingml/2006/main" noGrp="1"/>
          </p:cNvSpPr>
          <p:nvPr/>
        </p:nvSpPr>
        <p:spPr>
          <a:xfrm xmlns:a="http://schemas.openxmlformats.org/drawingml/2006/main">
            <a:off x="647700" y="38862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Execution cost and recall budgets</a:t>
            </a:r>
          </a:p>
        </p:txBody>
      </p:sp>
      <p:sp>
        <p:nvSpPr>
          <p:cNvPr id="4" name="">
            <a:extLst xmlns:a="http://schemas.openxmlformats.org/drawingml/2006/main">
              <a:ext uri="{FF2B5EF4-FFF2-40B4-BE49-F238E27FC236}">
                <a16:creationId xmlns:a16="http://schemas.microsoft.com/office/drawing/2014/main" id="{2CE3B5F0-0909-4C56-80D3-83F5737301FE}"/>
              </a:ext>
            </a:extLst>
          </p:cNvPr>
          <p:cNvSpPr>
            <a:spLocks xmlns:a="http://schemas.openxmlformats.org/drawingml/2006/main" noGrp="1"/>
          </p:cNvSpPr>
          <p:nvPr/>
        </p:nvSpPr>
        <p:spPr>
          <a:xfrm xmlns:a="http://schemas.openxmlformats.org/drawingml/2006/main">
            <a:off x="647700" y="45720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An indexed cascade study</a:t>
            </a:r>
          </a:p>
        </p:txBody>
      </p:sp>
      <p:sp>
        <p:nvSpPr>
          <p:cNvPr id="5" name="">
            <a:extLst xmlns:a="http://schemas.openxmlformats.org/drawingml/2006/main">
              <a:ext uri="{FF2B5EF4-FFF2-40B4-BE49-F238E27FC236}">
                <a16:creationId xmlns:a16="http://schemas.microsoft.com/office/drawing/2014/main" id="{5C556390-B84C-4901-8B0D-954E6A288546}"/>
              </a:ext>
            </a:extLst>
          </p:cNvPr>
          <p:cNvSpPr>
            <a:spLocks xmlns:a="http://schemas.openxmlformats.org/drawingml/2006/main" noGrp="1"/>
          </p:cNvSpPr>
          <p:nvPr/>
        </p:nvSpPr>
        <p:spPr>
          <a:xfrm xmlns:a="http://schemas.openxmlformats.org/drawingml/2006/main">
            <a:off x="647700" y="51435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42B2B"/>
                </a:solidFill>
                <a:latin typeface="IBM Plex Sans"/>
                <a:ea typeface="IBM Plex Sans"/>
                <a:cs typeface="IBM Plex Sans"/>
              </a:defRPr>
            </a:defPPr>
          </a:lstStyle>
          <a:p xmlns:a="http://schemas.openxmlformats.org/drawingml/2006/main">
            <a:pPr algn="l">
              <a:defRPr sz="1725" b="0">
                <a:solidFill>
                  <a:srgbClr val="242B2B"/>
                </a:solidFill>
                <a:latin typeface="IBM Plex Sans"/>
                <a:ea typeface="IBM Plex Sans"/>
                <a:cs typeface="IBM Plex Sans"/>
              </a:defRPr>
            </a:pPr>
            <a:r>
              <a:rPr sz="1725" b="0">
                <a:solidFill>
                  <a:srgbClr val="242B2B"/>
                </a:solidFill>
                <a:latin typeface="IBM Plex Sans"/>
                <a:ea typeface="IBM Plex Sans"/>
                <a:cs typeface="IBM Plex Sans"/>
              </a:rPr>
              <a:t>Ali Omar · Abdallah Mestrah · Abbas Yazbek</a:t>
            </a:r>
          </a:p>
        </p:txBody>
      </p:sp>
      <p:sp>
        <p:nvSpPr>
          <p:cNvPr id="6" name="">
            <a:extLst xmlns:a="http://schemas.openxmlformats.org/drawingml/2006/main">
              <a:ext uri="{FF2B5EF4-FFF2-40B4-BE49-F238E27FC236}">
                <a16:creationId xmlns:a16="http://schemas.microsoft.com/office/drawing/2014/main" id="{6F8A36DB-EFDB-4CED-BC6D-2EF22473F428}"/>
              </a:ext>
            </a:extLst>
          </p:cNvPr>
          <p:cNvSpPr>
            <a:spLocks xmlns:a="http://schemas.openxmlformats.org/drawingml/2006/main" noGrp="1"/>
          </p:cNvSpPr>
          <p:nvPr/>
        </p:nvSpPr>
        <p:spPr>
          <a:xfrm xmlns:a="http://schemas.openxmlformats.org/drawingml/2006/main">
            <a:off x="647700" y="54768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5C5B"/>
                </a:solidFill>
                <a:latin typeface="IBM Plex Sans"/>
                <a:ea typeface="IBM Plex Sans"/>
                <a:cs typeface="IBM Plex Sans"/>
              </a:defRPr>
            </a:defPPr>
          </a:lstStyle>
          <a:p xmlns:a="http://schemas.openxmlformats.org/drawingml/2006/main">
            <a:pPr algn="l">
              <a:defRPr sz="1575" b="0">
                <a:solidFill>
                  <a:srgbClr val="535C5B"/>
                </a:solidFill>
                <a:latin typeface="IBM Plex Sans"/>
                <a:ea typeface="IBM Plex Sans"/>
                <a:cs typeface="IBM Plex Sans"/>
              </a:defRPr>
            </a:pPr>
            <a:r>
              <a:rPr sz="1575" b="0">
                <a:solidFill>
                  <a:srgbClr val="535C5B"/>
                </a:solidFill>
                <a:latin typeface="IBM Plex Sans"/>
                <a:ea typeface="IBM Plex Sans"/>
                <a:cs typeface="IBM Plex Sans"/>
              </a:rPr>
              <a:t>Supervisor: Dr. Ahmad Abboud · Lebanese University</a:t>
            </a:r>
          </a:p>
        </p:txBody>
      </p:sp>
      <p:sp>
        <p:nvSpPr>
          <p:cNvPr id="7" name="">
            <a:extLst xmlns:a="http://schemas.openxmlformats.org/drawingml/2006/main">
              <a:ext uri="{FF2B5EF4-FFF2-40B4-BE49-F238E27FC236}">
                <a16:creationId xmlns:a16="http://schemas.microsoft.com/office/drawing/2014/main" id="{EEFCAC82-330B-42BB-9F9B-E3305D7749B1}"/>
              </a:ext>
            </a:extLst>
          </p:cNvPr>
          <p:cNvSpPr>
            <a:spLocks xmlns:a="http://schemas.openxmlformats.org/drawingml/2006/main" noGrp="1"/>
          </p:cNvSpPr>
          <p:nvPr/>
        </p:nvSpPr>
        <p:spPr>
          <a:xfrm xmlns:a="http://schemas.openxmlformats.org/drawingml/2006/main">
            <a:off x="647700" y="60198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35C5B"/>
                </a:solidFill>
                <a:latin typeface="IBM Plex Sans"/>
                <a:ea typeface="IBM Plex Sans"/>
                <a:cs typeface="IBM Plex Sans"/>
              </a:defRPr>
            </a:defPPr>
          </a:lstStyle>
          <a:p xmlns:a="http://schemas.openxmlformats.org/drawingml/2006/main">
            <a:pPr algn="l">
              <a:defRPr sz="1500" b="0">
                <a:solidFill>
                  <a:srgbClr val="535C5B"/>
                </a:solidFill>
                <a:latin typeface="IBM Plex Sans"/>
                <a:ea typeface="IBM Plex Sans"/>
                <a:cs typeface="IBM Plex Sans"/>
              </a:defRPr>
            </a:pPr>
            <a:r>
              <a:rPr sz="1500" b="0">
                <a:solidFill>
                  <a:srgbClr val="535C5B"/>
                </a:solidFill>
                <a:latin typeface="IBM Plex Sans"/>
                <a:ea typeface="IBM Plex Sans"/>
                <a:cs typeface="IBM Plex Sans"/>
              </a:rPr>
              <a:t>Research project report · 21 October 2026</a:t>
            </a:r>
          </a:p>
        </p:txBody>
      </p:sp>
    </p:spTree>
    <p:extLst>
      <p:ext uri="{BB962C8B-B14F-4D97-AF65-F5344CB8AC3E}">
        <p14:creationId xmlns:p14="http://schemas.microsoft.com/office/powerpoint/2010/main" val="1210159822"/>
      </p:ext>
    </p:extLst>
  </p:cSld>
</p:sld>
</file>

<file path=ppt/slides/slide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D91018-9B78-453F-B87F-CECFD6E8FC1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original Blended RAG paper</a:t>
            </a:r>
          </a:p>
        </p:txBody>
      </p:sp>
      <p:sp>
        <p:nvSpPr>
          <p:cNvPr id="2" name="">
            <a:extLst xmlns:a="http://schemas.openxmlformats.org/drawingml/2006/main">
              <a:ext uri="{FF2B5EF4-FFF2-40B4-BE49-F238E27FC236}">
                <a16:creationId xmlns:a16="http://schemas.microsoft.com/office/drawing/2014/main" id="{4BC6F051-7206-4678-8B43-B730F7AEA13C}"/>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02</a:t>
            </a:r>
          </a:p>
        </p:txBody>
      </p:sp>
      <p:sp>
        <p:nvSpPr>
          <p:cNvPr id="3" name="">
            <a:extLst xmlns:a="http://schemas.openxmlformats.org/drawingml/2006/main">
              <a:ext uri="{FF2B5EF4-FFF2-40B4-BE49-F238E27FC236}">
                <a16:creationId xmlns:a16="http://schemas.microsoft.com/office/drawing/2014/main" id="{77EAAB13-AA67-4E5A-8731-6BADB599C51A}"/>
              </a:ext>
            </a:extLst>
          </p:cNvPr>
          <p:cNvSpPr>
            <a:spLocks xmlns:a="http://schemas.openxmlformats.org/drawingml/2006/main" noGrp="1"/>
          </p:cNvSpPr>
          <p:nvPr/>
        </p:nvSpPr>
        <p:spPr>
          <a:xfrm xmlns:a="http://schemas.openxmlformats.org/drawingml/2006/main">
            <a:off x="609600" y="1714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242B2B"/>
                </a:solidFill>
                <a:latin typeface="IBM Plex Sans"/>
                <a:ea typeface="IBM Plex Sans"/>
                <a:cs typeface="IBM Plex Sans"/>
              </a:defRPr>
            </a:defPPr>
          </a:lstStyle>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Keyword, dense and learned-sparse search</a:t>
            </a:r>
          </a:p>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with hybrid field queries</a:t>
            </a:r>
          </a:p>
        </p:txBody>
      </p:sp>
      <p:sp>
        <p:nvSpPr>
          <p:cNvPr id="4" name="">
            <a:extLst xmlns:a="http://schemas.openxmlformats.org/drawingml/2006/main">
              <a:ext uri="{FF2B5EF4-FFF2-40B4-BE49-F238E27FC236}">
                <a16:creationId xmlns:a16="http://schemas.microsoft.com/office/drawing/2014/main" id="{6FEF0A87-CC1B-4BF9-8528-DE985E346CDC}"/>
              </a:ext>
            </a:extLst>
          </p:cNvPr>
          <p:cNvSpPr>
            <a:spLocks xmlns:a="http://schemas.openxmlformats.org/drawingml/2006/main" noGrp="1"/>
          </p:cNvSpPr>
          <p:nvPr/>
        </p:nvSpPr>
        <p:spPr>
          <a:xfrm xmlns:a="http://schemas.openxmlformats.org/drawingml/2006/main">
            <a:off x="609600" y="338137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0">
                <a:solidFill>
                  <a:srgbClr val="17656A"/>
                </a:solidFill>
                <a:latin typeface="Newsreader"/>
                <a:ea typeface="Newsreader"/>
                <a:cs typeface="Newsreader"/>
              </a:defRPr>
            </a:defPPr>
          </a:lstStyle>
          <a:p xmlns:a="http://schemas.openxmlformats.org/drawingml/2006/main">
            <a:pPr algn="l">
              <a:defRPr sz="5250" b="0">
                <a:solidFill>
                  <a:srgbClr val="17656A"/>
                </a:solidFill>
                <a:latin typeface="Newsreader"/>
                <a:ea typeface="Newsreader"/>
                <a:cs typeface="Newsreader"/>
              </a:defRPr>
            </a:pPr>
            <a:r>
              <a:rPr sz="5250" b="0">
                <a:solidFill>
                  <a:srgbClr val="17656A"/>
                </a:solidFill>
                <a:latin typeface="Newsreader"/>
                <a:ea typeface="Newsreader"/>
                <a:cs typeface="Newsreader"/>
              </a:rPr>
              <a:t>0.87</a:t>
            </a:r>
          </a:p>
        </p:txBody>
      </p:sp>
      <p:sp>
        <p:nvSpPr>
          <p:cNvPr id="5" name="">
            <a:extLst xmlns:a="http://schemas.openxmlformats.org/drawingml/2006/main">
              <a:ext uri="{FF2B5EF4-FFF2-40B4-BE49-F238E27FC236}">
                <a16:creationId xmlns:a16="http://schemas.microsoft.com/office/drawing/2014/main" id="{8EE1B4B5-1B94-42EC-8C1E-FE146D73E351}"/>
              </a:ext>
            </a:extLst>
          </p:cNvPr>
          <p:cNvSpPr>
            <a:spLocks xmlns:a="http://schemas.openxmlformats.org/drawingml/2006/main" noGrp="1"/>
          </p:cNvSpPr>
          <p:nvPr/>
        </p:nvSpPr>
        <p:spPr>
          <a:xfrm xmlns:a="http://schemas.openxmlformats.org/drawingml/2006/main">
            <a:off x="609600" y="43338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TREC-COVID nDCG@10</a:t>
            </a:r>
          </a:p>
        </p:txBody>
      </p:sp>
      <p:sp>
        <p:nvSpPr>
          <p:cNvPr id="6" name="">
            <a:extLst xmlns:a="http://schemas.openxmlformats.org/drawingml/2006/main">
              <a:ext uri="{FF2B5EF4-FFF2-40B4-BE49-F238E27FC236}">
                <a16:creationId xmlns:a16="http://schemas.microsoft.com/office/drawing/2014/main" id="{73443D32-DE1A-4736-AFDE-2595E0716B6C}"/>
              </a:ext>
            </a:extLst>
          </p:cNvPr>
          <p:cNvSpPr>
            <a:spLocks xmlns:a="http://schemas.openxmlformats.org/drawingml/2006/main" noGrp="1"/>
          </p:cNvSpPr>
          <p:nvPr/>
        </p:nvSpPr>
        <p:spPr>
          <a:xfrm xmlns:a="http://schemas.openxmlformats.org/drawingml/2006/main">
            <a:off x="6191250" y="33813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0">
                <a:solidFill>
                  <a:srgbClr val="17656A"/>
                </a:solidFill>
                <a:latin typeface="Newsreader"/>
                <a:ea typeface="Newsreader"/>
                <a:cs typeface="Newsreader"/>
              </a:defRPr>
            </a:defPPr>
          </a:lstStyle>
          <a:p xmlns:a="http://schemas.openxmlformats.org/drawingml/2006/main">
            <a:pPr algn="l">
              <a:defRPr sz="4950" b="0">
                <a:solidFill>
                  <a:srgbClr val="17656A"/>
                </a:solidFill>
                <a:latin typeface="Newsreader"/>
                <a:ea typeface="Newsreader"/>
                <a:cs typeface="Newsreader"/>
              </a:defRPr>
            </a:pPr>
            <a:r>
              <a:rPr sz="4950" b="0">
                <a:solidFill>
                  <a:srgbClr val="17656A"/>
                </a:solidFill>
                <a:latin typeface="Newsreader"/>
                <a:ea typeface="Newsreader"/>
                <a:cs typeface="Newsreader"/>
              </a:rPr>
              <a:t>57.63 / 68.40</a:t>
            </a:r>
          </a:p>
        </p:txBody>
      </p:sp>
      <p:sp>
        <p:nvSpPr>
          <p:cNvPr id="7" name="">
            <a:extLst xmlns:a="http://schemas.openxmlformats.org/drawingml/2006/main">
              <a:ext uri="{FF2B5EF4-FFF2-40B4-BE49-F238E27FC236}">
                <a16:creationId xmlns:a16="http://schemas.microsoft.com/office/drawing/2014/main" id="{D4C2DB6B-559E-4AB4-8EA9-2C68B90256B1}"/>
              </a:ext>
            </a:extLst>
          </p:cNvPr>
          <p:cNvSpPr>
            <a:spLocks xmlns:a="http://schemas.openxmlformats.org/drawingml/2006/main" noGrp="1"/>
          </p:cNvSpPr>
          <p:nvPr/>
        </p:nvSpPr>
        <p:spPr>
          <a:xfrm xmlns:a="http://schemas.openxmlformats.org/drawingml/2006/main">
            <a:off x="6191250" y="43338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SQuAD answer EM / F1</a:t>
            </a:r>
          </a:p>
        </p:txBody>
      </p:sp>
      <p:sp>
        <p:nvSpPr>
          <p:cNvPr id="8" name="">
            <a:extLst xmlns:a="http://schemas.openxmlformats.org/drawingml/2006/main">
              <a:ext uri="{FF2B5EF4-FFF2-40B4-BE49-F238E27FC236}">
                <a16:creationId xmlns:a16="http://schemas.microsoft.com/office/drawing/2014/main" id="{C8CC8456-7746-4B64-B1C8-D6BC7832BF0D}"/>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Published reference values. Our completed study measures retrieval quality and query latency.</a:t>
            </a:r>
          </a:p>
        </p:txBody>
      </p:sp>
    </p:spTree>
    <p:extLst>
      <p:ext uri="{BB962C8B-B14F-4D97-AF65-F5344CB8AC3E}">
        <p14:creationId xmlns:p14="http://schemas.microsoft.com/office/powerpoint/2010/main" val="1696611377"/>
      </p:ext>
    </p:extLst>
  </p:cSld>
</p:sld>
</file>

<file path=ppt/slides/slide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53A0C6-A31C-4CA6-8241-78EA8226134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What we set out to contribute</a:t>
            </a:r>
          </a:p>
        </p:txBody>
      </p:sp>
      <p:sp>
        <p:nvSpPr>
          <p:cNvPr id="2" name="">
            <a:extLst xmlns:a="http://schemas.openxmlformats.org/drawingml/2006/main">
              <a:ext uri="{FF2B5EF4-FFF2-40B4-BE49-F238E27FC236}">
                <a16:creationId xmlns:a16="http://schemas.microsoft.com/office/drawing/2014/main" id="{69F2DD76-BEF0-4037-B6E4-B7D94CF7D79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03</a:t>
            </a:r>
          </a:p>
        </p:txBody>
      </p:sp>
      <p:sp>
        <p:nvSpPr>
          <p:cNvPr id="3" name="">
            <a:extLst xmlns:a="http://schemas.openxmlformats.org/drawingml/2006/main">
              <a:ext uri="{FF2B5EF4-FFF2-40B4-BE49-F238E27FC236}">
                <a16:creationId xmlns:a16="http://schemas.microsoft.com/office/drawing/2014/main" id="{EE7E3619-56DF-4B8A-A31B-B520D8B80D77}"/>
              </a:ext>
            </a:extLst>
          </p:cNvPr>
          <p:cNvSpPr>
            <a:spLocks xmlns:a="http://schemas.openxmlformats.org/drawingml/2006/main" noGrp="1"/>
          </p:cNvSpPr>
          <p:nvPr/>
        </p:nvSpPr>
        <p:spPr>
          <a:xfrm xmlns:a="http://schemas.openxmlformats.org/drawingml/2006/main">
            <a:off x="609600" y="16383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7656A"/>
                </a:solidFill>
                <a:latin typeface="Newsreader"/>
                <a:ea typeface="Newsreader"/>
                <a:cs typeface="Newsreader"/>
              </a:defRPr>
            </a:defPPr>
          </a:lstStyle>
          <a:p xmlns:a="http://schemas.openxmlformats.org/drawingml/2006/main">
            <a:pPr algn="l">
              <a:defRPr sz="3150" b="0">
                <a:solidFill>
                  <a:srgbClr val="17656A"/>
                </a:solidFill>
                <a:latin typeface="Newsreader"/>
                <a:ea typeface="Newsreader"/>
                <a:cs typeface="Newsreader"/>
              </a:defRPr>
            </a:pPr>
            <a:r>
              <a:rPr sz="3150" b="0">
                <a:solidFill>
                  <a:srgbClr val="17656A"/>
                </a:solidFill>
                <a:latin typeface="Newsreader"/>
                <a:ea typeface="Newsreader"/>
                <a:cs typeface="Newsreader"/>
              </a:rPr>
              <a:t>1</a:t>
            </a:r>
          </a:p>
        </p:txBody>
      </p:sp>
      <p:sp>
        <p:nvSpPr>
          <p:cNvPr id="4" name="">
            <a:extLst xmlns:a="http://schemas.openxmlformats.org/drawingml/2006/main">
              <a:ext uri="{FF2B5EF4-FFF2-40B4-BE49-F238E27FC236}">
                <a16:creationId xmlns:a16="http://schemas.microsoft.com/office/drawing/2014/main" id="{8CB5B878-0D25-4B1E-9310-B091BB117304}"/>
              </a:ext>
            </a:extLst>
          </p:cNvPr>
          <p:cNvSpPr>
            <a:spLocks xmlns:a="http://schemas.openxmlformats.org/drawingml/2006/main" noGrp="1"/>
          </p:cNvSpPr>
          <p:nvPr/>
        </p:nvSpPr>
        <p:spPr>
          <a:xfrm xmlns:a="http://schemas.openxmlformats.org/drawingml/2006/main">
            <a:off x="1562100" y="162877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Newsreader"/>
                <a:ea typeface="Newsreader"/>
                <a:cs typeface="Newsreader"/>
              </a:defRPr>
            </a:defPPr>
          </a:lstStyle>
          <a:p xmlns:a="http://schemas.openxmlformats.org/drawingml/2006/main">
            <a:pPr algn="l">
              <a:defRPr sz="2550" b="0">
                <a:solidFill>
                  <a:srgbClr val="242B2B"/>
                </a:solidFill>
                <a:latin typeface="Newsreader"/>
                <a:ea typeface="Newsreader"/>
                <a:cs typeface="Newsreader"/>
              </a:defRPr>
            </a:pPr>
            <a:r>
              <a:rPr sz="2550" b="0">
                <a:solidFill>
                  <a:srgbClr val="242B2B"/>
                </a:solidFill>
                <a:latin typeface="Newsreader"/>
                <a:ea typeface="Newsreader"/>
                <a:cs typeface="Newsreader"/>
              </a:rPr>
              <a:t>Measure conditional retrieval under a stated recall budget</a:t>
            </a:r>
          </a:p>
        </p:txBody>
      </p:sp>
      <p:sp>
        <p:nvSpPr>
          <p:cNvPr id="5" name="">
            <a:extLst xmlns:a="http://schemas.openxmlformats.org/drawingml/2006/main">
              <a:ext uri="{FF2B5EF4-FFF2-40B4-BE49-F238E27FC236}">
                <a16:creationId xmlns:a16="http://schemas.microsoft.com/office/drawing/2014/main" id="{CD02D610-653D-4B43-8AA4-F2DACA69E53C}"/>
              </a:ext>
            </a:extLst>
          </p:cNvPr>
          <p:cNvSpPr>
            <a:spLocks xmlns:a="http://schemas.openxmlformats.org/drawingml/2006/main" noGrp="1"/>
          </p:cNvSpPr>
          <p:nvPr/>
        </p:nvSpPr>
        <p:spPr>
          <a:xfrm xmlns:a="http://schemas.openxmlformats.org/drawingml/2006/main">
            <a:off x="609600" y="27813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7656A"/>
                </a:solidFill>
                <a:latin typeface="Newsreader"/>
                <a:ea typeface="Newsreader"/>
                <a:cs typeface="Newsreader"/>
              </a:defRPr>
            </a:defPPr>
          </a:lstStyle>
          <a:p xmlns:a="http://schemas.openxmlformats.org/drawingml/2006/main">
            <a:pPr algn="l">
              <a:defRPr sz="3150" b="0">
                <a:solidFill>
                  <a:srgbClr val="17656A"/>
                </a:solidFill>
                <a:latin typeface="Newsreader"/>
                <a:ea typeface="Newsreader"/>
                <a:cs typeface="Newsreader"/>
              </a:defRPr>
            </a:pPr>
            <a:r>
              <a:rPr sz="3150" b="0">
                <a:solidFill>
                  <a:srgbClr val="17656A"/>
                </a:solidFill>
                <a:latin typeface="Newsreader"/>
                <a:ea typeface="Newsreader"/>
                <a:cs typeface="Newsreader"/>
              </a:rPr>
              <a:t>2</a:t>
            </a:r>
          </a:p>
        </p:txBody>
      </p:sp>
      <p:sp>
        <p:nvSpPr>
          <p:cNvPr id="6" name="">
            <a:extLst xmlns:a="http://schemas.openxmlformats.org/drawingml/2006/main">
              <a:ext uri="{FF2B5EF4-FFF2-40B4-BE49-F238E27FC236}">
                <a16:creationId xmlns:a16="http://schemas.microsoft.com/office/drawing/2014/main" id="{BDA4C9FC-06E2-43A8-8FE9-43CD0C869FD9}"/>
              </a:ext>
            </a:extLst>
          </p:cNvPr>
          <p:cNvSpPr>
            <a:spLocks xmlns:a="http://schemas.openxmlformats.org/drawingml/2006/main" noGrp="1"/>
          </p:cNvSpPr>
          <p:nvPr/>
        </p:nvSpPr>
        <p:spPr>
          <a:xfrm xmlns:a="http://schemas.openxmlformats.org/drawingml/2006/main">
            <a:off x="1562100" y="277177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Newsreader"/>
                <a:ea typeface="Newsreader"/>
                <a:cs typeface="Newsreader"/>
              </a:defRPr>
            </a:defPPr>
          </a:lstStyle>
          <a:p xmlns:a="http://schemas.openxmlformats.org/drawingml/2006/main">
            <a:pPr algn="l">
              <a:defRPr sz="2550" b="0">
                <a:solidFill>
                  <a:srgbClr val="242B2B"/>
                </a:solidFill>
                <a:latin typeface="Newsreader"/>
                <a:ea typeface="Newsreader"/>
                <a:cs typeface="Newsreader"/>
              </a:defRPr>
            </a:pPr>
            <a:r>
              <a:rPr sz="2550" b="0">
                <a:solidFill>
                  <a:srgbClr val="242B2B"/>
                </a:solidFill>
                <a:latin typeface="Newsreader"/>
                <a:ea typeface="Newsreader"/>
                <a:cs typeface="Newsreader"/>
              </a:rPr>
              <a:t>Separate the BM25 indexing gain from the routing gain</a:t>
            </a:r>
          </a:p>
        </p:txBody>
      </p:sp>
      <p:sp>
        <p:nvSpPr>
          <p:cNvPr id="7" name="">
            <a:extLst xmlns:a="http://schemas.openxmlformats.org/drawingml/2006/main">
              <a:ext uri="{FF2B5EF4-FFF2-40B4-BE49-F238E27FC236}">
                <a16:creationId xmlns:a16="http://schemas.microsoft.com/office/drawing/2014/main" id="{DD4C6954-9D2D-4232-8BB2-EB944528529B}"/>
              </a:ext>
            </a:extLst>
          </p:cNvPr>
          <p:cNvSpPr>
            <a:spLocks xmlns:a="http://schemas.openxmlformats.org/drawingml/2006/main" noGrp="1"/>
          </p:cNvSpPr>
          <p:nvPr/>
        </p:nvSpPr>
        <p:spPr>
          <a:xfrm xmlns:a="http://schemas.openxmlformats.org/drawingml/2006/main">
            <a:off x="609600" y="39243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7656A"/>
                </a:solidFill>
                <a:latin typeface="Newsreader"/>
                <a:ea typeface="Newsreader"/>
                <a:cs typeface="Newsreader"/>
              </a:defRPr>
            </a:defPPr>
          </a:lstStyle>
          <a:p xmlns:a="http://schemas.openxmlformats.org/drawingml/2006/main">
            <a:pPr algn="l">
              <a:defRPr sz="3150" b="0">
                <a:solidFill>
                  <a:srgbClr val="17656A"/>
                </a:solidFill>
                <a:latin typeface="Newsreader"/>
                <a:ea typeface="Newsreader"/>
                <a:cs typeface="Newsreader"/>
              </a:defRPr>
            </a:pPr>
            <a:r>
              <a:rPr sz="3150" b="0">
                <a:solidFill>
                  <a:srgbClr val="17656A"/>
                </a:solidFill>
                <a:latin typeface="Newsreader"/>
                <a:ea typeface="Newsreader"/>
                <a:cs typeface="Newsreader"/>
              </a:rPr>
              <a:t>3</a:t>
            </a:r>
          </a:p>
        </p:txBody>
      </p:sp>
      <p:sp>
        <p:nvSpPr>
          <p:cNvPr id="8" name="">
            <a:extLst xmlns:a="http://schemas.openxmlformats.org/drawingml/2006/main">
              <a:ext uri="{FF2B5EF4-FFF2-40B4-BE49-F238E27FC236}">
                <a16:creationId xmlns:a16="http://schemas.microsoft.com/office/drawing/2014/main" id="{BCDF5F25-5C11-419D-BB56-E9B23C434B8E}"/>
              </a:ext>
            </a:extLst>
          </p:cNvPr>
          <p:cNvSpPr>
            <a:spLocks xmlns:a="http://schemas.openxmlformats.org/drawingml/2006/main" noGrp="1"/>
          </p:cNvSpPr>
          <p:nvPr/>
        </p:nvSpPr>
        <p:spPr>
          <a:xfrm xmlns:a="http://schemas.openxmlformats.org/drawingml/2006/main">
            <a:off x="1562100" y="391477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Newsreader"/>
                <a:ea typeface="Newsreader"/>
                <a:cs typeface="Newsreader"/>
              </a:defRPr>
            </a:defPPr>
          </a:lstStyle>
          <a:p xmlns:a="http://schemas.openxmlformats.org/drawingml/2006/main">
            <a:pPr algn="l">
              <a:defRPr sz="2550" b="0">
                <a:solidFill>
                  <a:srgbClr val="242B2B"/>
                </a:solidFill>
                <a:latin typeface="Newsreader"/>
                <a:ea typeface="Newsreader"/>
                <a:cs typeface="Newsreader"/>
              </a:defRPr>
            </a:pPr>
            <a:r>
              <a:rPr sz="2550" b="0">
                <a:solidFill>
                  <a:srgbClr val="242B2B"/>
                </a:solidFill>
                <a:latin typeface="Newsreader"/>
                <a:ea typeface="Newsreader"/>
                <a:cs typeface="Newsreader"/>
              </a:rPr>
              <a:t>Report transfer failures and strong standalone baselines</a:t>
            </a:r>
          </a:p>
        </p:txBody>
      </p:sp>
      <p:sp>
        <p:nvSpPr>
          <p:cNvPr id="9" name="">
            <a:extLst xmlns:a="http://schemas.openxmlformats.org/drawingml/2006/main">
              <a:ext uri="{FF2B5EF4-FFF2-40B4-BE49-F238E27FC236}">
                <a16:creationId xmlns:a16="http://schemas.microsoft.com/office/drawing/2014/main" id="{99AC41F4-19DE-4A7D-92C5-48A3074A113A}"/>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The project tests an implementation and its limits; it does not introduce a new retrieval principle.</a:t>
            </a:r>
          </a:p>
        </p:txBody>
      </p:sp>
    </p:spTree>
    <p:extLst>
      <p:ext uri="{BB962C8B-B14F-4D97-AF65-F5344CB8AC3E}">
        <p14:creationId xmlns:p14="http://schemas.microsoft.com/office/powerpoint/2010/main" val="575694878"/>
      </p:ext>
    </p:extLst>
  </p:cSld>
</p:sld>
</file>

<file path=ppt/slides/slide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2B5AA7-ACCC-4CD7-901F-835FA68FE0D9}"/>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First baseline from our adaptation</a:t>
            </a:r>
          </a:p>
        </p:txBody>
      </p:sp>
      <p:sp>
        <p:nvSpPr>
          <p:cNvPr id="2" name="">
            <a:extLst xmlns:a="http://schemas.openxmlformats.org/drawingml/2006/main">
              <a:ext uri="{FF2B5EF4-FFF2-40B4-BE49-F238E27FC236}">
                <a16:creationId xmlns:a16="http://schemas.microsoft.com/office/drawing/2014/main" id="{4E2B7076-202A-44CC-8DDB-D54F89A784B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04</a:t>
            </a:r>
          </a:p>
        </p:txBody>
      </p:sp>
      <p:graphicFrame>
        <p:nvGraphicFramePr>
          <p:cNvPr id="3" name="">
            <a:extLst xmlns:a="http://schemas.openxmlformats.org/drawingml/2006/main">
              <a:ext uri="{FF2B5EF4-FFF2-40B4-BE49-F238E27FC236}">
                <a16:creationId xmlns:a16="http://schemas.microsoft.com/office/drawing/2014/main" id="{5D947FCC-7AE7-4501-BD29-41D5369CE2CC}"/>
              </a:ext>
            </a:extLst>
          </p:cNvPr>
          <p:cNvGraphicFramePr/>
          <p:nvPr/>
        </p:nvGraphicFramePr>
        <p:xfrm>
          <a:off xmlns:a="http://schemas.openxmlformats.org/drawingml/2006/main" x="609600" y="1952625"/>
          <a:ext xmlns:a="http://schemas.openxmlformats.org/drawingml/2006/main" cx="10972800" cy="2333625"/>
        </p:xfrm>
        <a:graphic xmlns:a="http://schemas.openxmlformats.org/drawingml/2006/main">
          <a:graphicData uri="http://schemas.openxmlformats.org/drawingml/2006/table">
            <a:tbl>
              <a:tblPr firstRow="1" bandRow="0"/>
              <a:tblGrid>
                <a:gridCol w="2952750"/>
                <a:gridCol w="1524000"/>
                <a:gridCol w="1905000"/>
                <a:gridCol w="3048000"/>
                <a:gridCol w="1543050"/>
              </a:tblGrid>
              <a:tr h="777875">
                <a:tc>
                  <a:txBody>
                    <a:bodyPr wrap="square" lIns="114300" tIns="76200" rIns="114300" bIns="76200">
                      <a:noAutofit/>
                    </a:bodyPr>
                    <a:lstStyle/>
                    <a:p>
                      <a:pPr algn="l"/>
                      <a:r>
                        <a:rPr sz="1725" b="1">
                          <a:solidFill>
                            <a:srgbClr val="242B2B"/>
                          </a:solidFill>
                          <a:latin typeface="IBM Plex Sans"/>
                          <a:ea typeface="IBM Plex Sans"/>
                          <a:cs typeface="IBM Plex Sans"/>
                        </a:rPr>
                        <a:t>Dataset / scope</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Queries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r90 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Fusion to cascade mean</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Time saved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777875">
                <a:tc>
                  <a:txBody>
                    <a:bodyPr wrap="square" lIns="114300" tIns="76200" rIns="114300" bIns="76200">
                      <a:noAutofit/>
                    </a:bodyPr>
                    <a:lstStyle/>
                    <a:p>
                      <a:pPr algn="l"/>
                      <a:r>
                        <a:rPr sz="1725" b="0">
                          <a:solidFill>
                            <a:srgbClr val="242B2B"/>
                          </a:solidFill>
                          <a:latin typeface="IBM Plex Sans"/>
                          <a:ea typeface="IBM Plex Sans"/>
                          <a:cs typeface="IBM Plex Sans"/>
                        </a:rPr>
                        <a:t>TREC-COVID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1493.23 to 1440.00 ms</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3.56%</a:t>
                      </a:r>
                    </a:p>
                  </a:txBody>
                  <a:tcPr marL="95250" marR="95250" marT="57150" marB="57150" anchor="ctr">
                    <a:lnR w="4763">
                      <a:solidFill>
                        <a:srgbClr val="B9B1A5"/>
                      </a:solidFill>
                    </a:lnR>
                    <a:lnB w="4763">
                      <a:solidFill>
                        <a:srgbClr val="B9B1A5"/>
                      </a:solidFill>
                    </a:lnB>
                    <a:solidFill>
                      <a:srgbClr val="F7F3EC"/>
                    </a:solidFill>
                  </a:tcPr>
                </a:tc>
              </a:tr>
              <a:tr h="777875">
                <a:tc>
                  <a:txBody>
                    <a:bodyPr wrap="square" lIns="114300" tIns="76200" rIns="114300" bIns="76200">
                      <a:noAutofit/>
                    </a:bodyPr>
                    <a:lstStyle/>
                    <a:p>
                      <a:pPr algn="l"/>
                      <a:r>
                        <a:rPr sz="1725" b="0">
                          <a:solidFill>
                            <a:srgbClr val="242B2B"/>
                          </a:solidFill>
                          <a:latin typeface="IBM Plex Sans"/>
                          <a:ea typeface="IBM Plex Sans"/>
                          <a:cs typeface="IBM Plex Sans"/>
                        </a:rPr>
                        <a:t>SQuAD dev retrieval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10,570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99.38%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148.26 to 139.19 ms</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6.12%</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405C5E9E-FD43-46C3-9B84-A2256ECEC8F6}"/>
              </a:ext>
            </a:extLst>
          </p:cNvPr>
          <p:cNvSpPr>
            <a:spLocks xmlns:a="http://schemas.openxmlformats.org/drawingml/2006/main" noGrp="1"/>
          </p:cNvSpPr>
          <p:nvPr/>
        </p:nvSpPr>
        <p:spPr>
          <a:xfrm xmlns:a="http://schemas.openxmlformats.org/drawingml/2006/main">
            <a:off x="609600" y="48006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5C5B"/>
                </a:solidFill>
                <a:latin typeface="IBM Plex Sans"/>
                <a:ea typeface="IBM Plex Sans"/>
                <a:cs typeface="IBM Plex Sans"/>
              </a:defRPr>
            </a:defPPr>
          </a:lstStyle>
          <a:p xmlns:a="http://schemas.openxmlformats.org/drawingml/2006/main">
            <a:pPr algn="l">
              <a:defRPr sz="1950" b="0">
                <a:solidFill>
                  <a:srgbClr val="535C5B"/>
                </a:solidFill>
                <a:latin typeface="IBM Plex Sans"/>
                <a:ea typeface="IBM Plex Sans"/>
                <a:cs typeface="IBM Plex Sans"/>
              </a:defRPr>
            </a:pPr>
            <a:r>
              <a:rPr sz="1950" b="0">
                <a:solidFill>
                  <a:srgbClr val="535C5B"/>
                </a:solidFill>
                <a:latin typeface="IBM Plex Sans"/>
                <a:ea typeface="IBM Plex Sans"/>
                <a:cs typeface="IBM Plex Sans"/>
              </a:rPr>
              <a:t>In TREC, BM25 took 1410.14 of the 1493.23 ms fusion total.</a:t>
            </a:r>
          </a:p>
        </p:txBody>
      </p:sp>
      <p:sp>
        <p:nvSpPr>
          <p:cNvPr id="5" name="">
            <a:extLst xmlns:a="http://schemas.openxmlformats.org/drawingml/2006/main">
              <a:ext uri="{FF2B5EF4-FFF2-40B4-BE49-F238E27FC236}">
                <a16:creationId xmlns:a16="http://schemas.microsoft.com/office/drawing/2014/main" id="{9BC25C14-F7FD-4040-A9A8-27AF0B734F02}"/>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First Python baseline on overlapping datasets; not the original Elasticsearch / ELSER system.</a:t>
            </a:r>
          </a:p>
        </p:txBody>
      </p:sp>
    </p:spTree>
    <p:extLst>
      <p:ext uri="{BB962C8B-B14F-4D97-AF65-F5344CB8AC3E}">
        <p14:creationId xmlns:p14="http://schemas.microsoft.com/office/powerpoint/2010/main" val="1881494893"/>
      </p:ext>
    </p:extLst>
  </p:cSld>
</p:sld>
</file>

<file path=ppt/slides/slide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E4D961-F894-4414-A752-3DF9D1606985}"/>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Reproduction and adaptation boundaries</a:t>
            </a:r>
          </a:p>
        </p:txBody>
      </p:sp>
      <p:sp>
        <p:nvSpPr>
          <p:cNvPr id="2" name="">
            <a:extLst xmlns:a="http://schemas.openxmlformats.org/drawingml/2006/main">
              <a:ext uri="{FF2B5EF4-FFF2-40B4-BE49-F238E27FC236}">
                <a16:creationId xmlns:a16="http://schemas.microsoft.com/office/drawing/2014/main" id="{1E6EA8DF-16C9-4606-B20F-3BD5125E22F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05</a:t>
            </a:r>
          </a:p>
        </p:txBody>
      </p:sp>
      <p:graphicFrame>
        <p:nvGraphicFramePr>
          <p:cNvPr id="3" name="">
            <a:extLst xmlns:a="http://schemas.openxmlformats.org/drawingml/2006/main">
              <a:ext uri="{FF2B5EF4-FFF2-40B4-BE49-F238E27FC236}">
                <a16:creationId xmlns:a16="http://schemas.microsoft.com/office/drawing/2014/main" id="{5A48E863-2339-4C21-8880-2643B2674BD2}"/>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firstRow="1" bandRow="0"/>
              <a:tblGrid>
                <a:gridCol w="2667000"/>
                <a:gridCol w="4000500"/>
                <a:gridCol w="4305300"/>
              </a:tblGrid>
              <a:tr h="666750">
                <a:tc>
                  <a:txBody>
                    <a:bodyPr wrap="square" lIns="114300" tIns="76200" rIns="114300" bIns="76200">
                      <a:noAutofit/>
                    </a:bodyPr>
                    <a:lstStyle/>
                    <a:p>
                      <a:pPr algn="l"/>
                      <a:r>
                        <a:rPr sz="1800" b="1">
                          <a:solidFill>
                            <a:srgbClr val="242B2B"/>
                          </a:solidFill>
                          <a:latin typeface="IBM Plex Sans"/>
                          <a:ea typeface="IBM Plex Sans"/>
                          <a:cs typeface="IBM Plex Sans"/>
                        </a:rPr>
                        <a:t>Dimension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Original paper</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This project</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Engine / sparse model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Elasticsearch / ELSER</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Python / SPLADE</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Retrieval question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Blended-query quality</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Latency under recall budgets</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Answer generation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NQ / SQuAD EM and F1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Not evaluated</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Timing reference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Paper system</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Our original / indexed fusion</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7BB82E13-FC38-4F6D-B060-1DBAFBB5F0DD}"/>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These model, corpus and metric differences limit direct comparison. We did not isolate their individual effects.</a:t>
            </a:r>
          </a:p>
        </p:txBody>
      </p:sp>
    </p:spTree>
    <p:extLst>
      <p:ext uri="{BB962C8B-B14F-4D97-AF65-F5344CB8AC3E}">
        <p14:creationId xmlns:p14="http://schemas.microsoft.com/office/powerpoint/2010/main" val="976951760"/>
      </p:ext>
    </p:extLst>
  </p:cSld>
</p:sld>
</file>

<file path=ppt/slides/slide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E5BCA0-51F9-4A67-84D8-2EB33E573431}"/>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Recall retention and absolute recall</a:t>
            </a:r>
          </a:p>
        </p:txBody>
      </p:sp>
      <p:sp>
        <p:nvSpPr>
          <p:cNvPr id="2" name="">
            <a:extLst xmlns:a="http://schemas.openxmlformats.org/drawingml/2006/main">
              <a:ext uri="{FF2B5EF4-FFF2-40B4-BE49-F238E27FC236}">
                <a16:creationId xmlns:a16="http://schemas.microsoft.com/office/drawing/2014/main" id="{2C4A0A77-9C0F-4D32-A2FC-017249368FB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06</a:t>
            </a:r>
          </a:p>
        </p:txBody>
      </p:sp>
      <p:sp>
        <p:nvSpPr>
          <p:cNvPr id="3" name="">
            <a:extLst xmlns:a="http://schemas.openxmlformats.org/drawingml/2006/main">
              <a:ext uri="{FF2B5EF4-FFF2-40B4-BE49-F238E27FC236}">
                <a16:creationId xmlns:a16="http://schemas.microsoft.com/office/drawing/2014/main" id="{E53291FB-2BA2-4EB3-8768-B2492C9A4FE2}"/>
              </a:ext>
            </a:extLst>
          </p:cNvPr>
          <p:cNvSpPr>
            <a:spLocks xmlns:a="http://schemas.openxmlformats.org/drawingml/2006/main" noGrp="1"/>
          </p:cNvSpPr>
          <p:nvPr/>
        </p:nvSpPr>
        <p:spPr>
          <a:xfrm xmlns:a="http://schemas.openxmlformats.org/drawingml/2006/main">
            <a:off x="609600" y="1657350"/>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0">
                <a:solidFill>
                  <a:srgbClr val="17656A"/>
                </a:solidFill>
                <a:latin typeface="Newsreader"/>
                <a:ea typeface="Newsreader"/>
                <a:cs typeface="Newsreader"/>
              </a:defRPr>
            </a:defPPr>
          </a:lstStyle>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Mean method Recall@100</a:t>
            </a:r>
          </a:p>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 mean fusion Recall@100</a:t>
            </a:r>
          </a:p>
        </p:txBody>
      </p:sp>
      <p:sp>
        <p:nvSpPr>
          <p:cNvPr id="4" name="">
            <a:extLst xmlns:a="http://schemas.openxmlformats.org/drawingml/2006/main">
              <a:ext uri="{FF2B5EF4-FFF2-40B4-BE49-F238E27FC236}">
                <a16:creationId xmlns:a16="http://schemas.microsoft.com/office/drawing/2014/main" id="{72386372-C936-4028-ABDC-ADA86ECCF26B}"/>
              </a:ext>
            </a:extLst>
          </p:cNvPr>
          <p:cNvSpPr>
            <a:spLocks xmlns:a="http://schemas.openxmlformats.org/drawingml/2006/main" noGrp="1"/>
          </p:cNvSpPr>
          <p:nvPr/>
        </p:nvSpPr>
        <p:spPr>
          <a:xfrm xmlns:a="http://schemas.openxmlformats.org/drawingml/2006/main">
            <a:off x="609600" y="34004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42B2B"/>
                </a:solidFill>
                <a:latin typeface="IBM Plex Sans"/>
                <a:ea typeface="IBM Plex Sans"/>
                <a:cs typeface="IBM Plex Sans"/>
              </a:defRPr>
            </a:defPPr>
          </a:lstStyle>
          <a:p xmlns:a="http://schemas.openxmlformats.org/drawingml/2006/main">
            <a:pPr algn="l">
              <a:defRPr sz="2625" b="0">
                <a:solidFill>
                  <a:srgbClr val="242B2B"/>
                </a:solidFill>
                <a:latin typeface="IBM Plex Sans"/>
                <a:ea typeface="IBM Plex Sans"/>
                <a:cs typeface="IBM Plex Sans"/>
              </a:defRPr>
            </a:pPr>
            <a:r>
              <a:rPr sz="2625" b="0">
                <a:solidFill>
                  <a:srgbClr val="242B2B"/>
                </a:solidFill>
                <a:latin typeface="IBM Plex Sans"/>
                <a:ea typeface="IBM Plex Sans"/>
                <a:cs typeface="IBM Plex Sans"/>
              </a:rPr>
              <a:t>TREC primary: 0.11844 ÷ 0.12250 = 96.68%</a:t>
            </a:r>
          </a:p>
        </p:txBody>
      </p:sp>
      <p:sp>
        <p:nvSpPr>
          <p:cNvPr id="5" name="">
            <a:extLst xmlns:a="http://schemas.openxmlformats.org/drawingml/2006/main">
              <a:ext uri="{FF2B5EF4-FFF2-40B4-BE49-F238E27FC236}">
                <a16:creationId xmlns:a16="http://schemas.microsoft.com/office/drawing/2014/main" id="{E3033DAD-38FA-476A-A599-14CEA72DE794}"/>
              </a:ext>
            </a:extLst>
          </p:cNvPr>
          <p:cNvSpPr>
            <a:spLocks xmlns:a="http://schemas.openxmlformats.org/drawingml/2006/main" noGrp="1"/>
          </p:cNvSpPr>
          <p:nvPr/>
        </p:nvSpPr>
        <p:spPr>
          <a:xfrm xmlns:a="http://schemas.openxmlformats.org/drawingml/2006/main">
            <a:off x="609600" y="4371975"/>
            <a:ext cx="10763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Hit accuracy: at least one relevant result</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Recall: fraction of relevant documents recovered</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nDCG: quality of the top-ranked ordering</a:t>
            </a:r>
          </a:p>
        </p:txBody>
      </p:sp>
    </p:spTree>
    <p:extLst>
      <p:ext uri="{BB962C8B-B14F-4D97-AF65-F5344CB8AC3E}">
        <p14:creationId xmlns:p14="http://schemas.microsoft.com/office/powerpoint/2010/main" val="1129048594"/>
      </p:ext>
    </p:extLst>
  </p:cSld>
</p:sld>
</file>

<file path=ppt/slides/slide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B8EDD2-80F3-445A-8ED4-B46C55406142}"/>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live conditional decision</a:t>
            </a:r>
          </a:p>
        </p:txBody>
      </p:sp>
      <p:sp>
        <p:nvSpPr>
          <p:cNvPr id="2" name="">
            <a:extLst xmlns:a="http://schemas.openxmlformats.org/drawingml/2006/main">
              <a:ext uri="{FF2B5EF4-FFF2-40B4-BE49-F238E27FC236}">
                <a16:creationId xmlns:a16="http://schemas.microsoft.com/office/drawing/2014/main" id="{D2573798-948A-437C-81A9-ADD929DC9873}"/>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07</a:t>
            </a:r>
          </a:p>
        </p:txBody>
      </p:sp>
      <p:sp>
        <p:nvSpPr>
          <p:cNvPr id="3" name="">
            <a:extLst xmlns:a="http://schemas.openxmlformats.org/drawingml/2006/main">
              <a:ext uri="{FF2B5EF4-FFF2-40B4-BE49-F238E27FC236}">
                <a16:creationId xmlns:a16="http://schemas.microsoft.com/office/drawing/2014/main" id="{58E72EF6-BE3A-4219-BD9A-C0FBD8D8AE58}"/>
              </a:ext>
            </a:extLst>
          </p:cNvPr>
          <p:cNvSpPr>
            <a:spLocks xmlns:a="http://schemas.openxmlformats.org/drawingml/2006/main" noGrp="1"/>
          </p:cNvSpPr>
          <p:nvPr/>
        </p:nvSpPr>
        <p:spPr>
          <a:xfrm xmlns:a="http://schemas.openxmlformats.org/drawingml/2006/main">
            <a:off x="609600" y="16573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Best Fields BM25, then an 11-feature Ridge gate</a:t>
            </a:r>
          </a:p>
        </p:txBody>
      </p:sp>
      <p:graphicFrame>
        <p:nvGraphicFramePr>
          <p:cNvPr id="4" name="">
            <a:extLst xmlns:a="http://schemas.openxmlformats.org/drawingml/2006/main">
              <a:ext uri="{FF2B5EF4-FFF2-40B4-BE49-F238E27FC236}">
                <a16:creationId xmlns:a16="http://schemas.microsoft.com/office/drawing/2014/main" id="{A00AE8E9-12C0-4CDF-B625-D6C8B3F2C689}"/>
              </a:ext>
            </a:extLst>
          </p:cNvPr>
          <p:cNvGraphicFramePr/>
          <p:nvPr/>
        </p:nvGraphicFramePr>
        <p:xfrm>
          <a:off xmlns:a="http://schemas.openxmlformats.org/drawingml/2006/main" x="609600" y="2762250"/>
          <a:ext xmlns:a="http://schemas.openxmlformats.org/drawingml/2006/main" cx="10972800" cy="2000250"/>
        </p:xfrm>
        <a:graphic xmlns:a="http://schemas.openxmlformats.org/drawingml/2006/main">
          <a:graphicData uri="http://schemas.openxmlformats.org/drawingml/2006/table">
            <a:tbl>
              <a:tblPr firstRow="1" bandRow="0"/>
              <a:tblGrid>
                <a:gridCol w="4524375"/>
                <a:gridCol w="6448425"/>
              </a:tblGrid>
              <a:tr h="666750">
                <a:tc>
                  <a:txBody>
                    <a:bodyPr wrap="square" lIns="114300" tIns="76200" rIns="114300" bIns="76200">
                      <a:noAutofit/>
                    </a:bodyPr>
                    <a:lstStyle/>
                    <a:p>
                      <a:pPr algn="l"/>
                      <a:r>
                        <a:rPr sz="2100" b="1">
                          <a:solidFill>
                            <a:srgbClr val="242B2B"/>
                          </a:solidFill>
                          <a:latin typeface="IBM Plex Sans"/>
                          <a:ea typeface="IBM Plex Sans"/>
                          <a:cs typeface="IBM Plex Sans"/>
                        </a:rPr>
                        <a:t>Gate condition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Executed action</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 threshold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Return BM25 top 100</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&gt; threshold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Run Dense + SPLADE, then RRF</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5" name="">
            <a:extLst xmlns:a="http://schemas.openxmlformats.org/drawingml/2006/main">
              <a:ext uri="{FF2B5EF4-FFF2-40B4-BE49-F238E27FC236}">
                <a16:creationId xmlns:a16="http://schemas.microsoft.com/office/drawing/2014/main" id="{05CF6D44-6D61-468E-8CE7-FE560F7ED178}"/>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Fallback reuses BM25. RRF uses k = 60. Every path returns up to 100 documents.</a:t>
            </a:r>
          </a:p>
        </p:txBody>
      </p:sp>
    </p:spTree>
    <p:extLst>
      <p:ext uri="{BB962C8B-B14F-4D97-AF65-F5344CB8AC3E}">
        <p14:creationId xmlns:p14="http://schemas.microsoft.com/office/powerpoint/2010/main" val="684312227"/>
      </p:ext>
    </p:extLst>
  </p:cSld>
</p:sld>
</file>

<file path=ppt/slides/slide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9D2BF6-B353-41E9-A25D-3D0AD0C4F39B}"/>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Four frozen recall budgets</a:t>
            </a:r>
          </a:p>
        </p:txBody>
      </p:sp>
      <p:sp>
        <p:nvSpPr>
          <p:cNvPr id="2" name="">
            <a:extLst xmlns:a="http://schemas.openxmlformats.org/drawingml/2006/main">
              <a:ext uri="{FF2B5EF4-FFF2-40B4-BE49-F238E27FC236}">
                <a16:creationId xmlns:a16="http://schemas.microsoft.com/office/drawing/2014/main" id="{1D9CCCAF-5881-46F1-B029-863514A36A08}"/>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08</a:t>
            </a:r>
          </a:p>
        </p:txBody>
      </p:sp>
      <p:graphicFrame>
        <p:nvGraphicFramePr>
          <p:cNvPr id="3" name="">
            <a:extLst xmlns:a="http://schemas.openxmlformats.org/drawingml/2006/main">
              <a:ext uri="{FF2B5EF4-FFF2-40B4-BE49-F238E27FC236}">
                <a16:creationId xmlns:a16="http://schemas.microsoft.com/office/drawing/2014/main" id="{B43BDF54-FA13-47D7-96F8-2D9A1CF0CF3B}"/>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table">
            <a:tbl>
              <a:tblPr firstRow="1" bandRow="0"/>
              <a:tblGrid>
                <a:gridCol w="2857500"/>
                <a:gridCol w="4000500"/>
                <a:gridCol w="4114800"/>
              </a:tblGrid>
              <a:tr h="638175">
                <a:tc>
                  <a:txBody>
                    <a:bodyPr wrap="square" lIns="114300" tIns="76200" rIns="114300" bIns="76200">
                      <a:noAutofit/>
                    </a:bodyPr>
                    <a:lstStyle/>
                    <a:p>
                      <a:pPr algn="l"/>
                      <a:r>
                        <a:rPr sz="2100" b="1">
                          <a:solidFill>
                            <a:srgbClr val="242B2B"/>
                          </a:solidFill>
                          <a:latin typeface="IBM Plex Sans"/>
                          <a:ea typeface="IBM Plex Sans"/>
                          <a:cs typeface="IBM Plex Sans"/>
                        </a:rPr>
                        <a:t>Policy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Threshold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Train OOF retention</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0.0629951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99.11%</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0.0756657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95.42%</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0.0810938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92.59%</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0.0847674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90.69%</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DA2D6224-BA67-4DEE-A01E-99CA9E1DA242}"/>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2,590 NFCorpus train queries. Nominal policy targets are calibration settings, not transfer guarantees.</a:t>
            </a:r>
          </a:p>
        </p:txBody>
      </p:sp>
    </p:spTree>
    <p:extLst>
      <p:ext uri="{BB962C8B-B14F-4D97-AF65-F5344CB8AC3E}">
        <p14:creationId xmlns:p14="http://schemas.microsoft.com/office/powerpoint/2010/main" val="1381389683"/>
      </p:ext>
    </p:extLst>
  </p:cSld>
</p:sld>
</file>

<file path=ppt/slides/slide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A244A2-B94F-43FD-AB97-1E27DE17DDA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Completed evaluation scope</a:t>
            </a:r>
          </a:p>
        </p:txBody>
      </p:sp>
      <p:sp>
        <p:nvSpPr>
          <p:cNvPr id="2" name="">
            <a:extLst xmlns:a="http://schemas.openxmlformats.org/drawingml/2006/main">
              <a:ext uri="{FF2B5EF4-FFF2-40B4-BE49-F238E27FC236}">
                <a16:creationId xmlns:a16="http://schemas.microsoft.com/office/drawing/2014/main" id="{0C890FDE-F08D-428C-B31C-4AE90F5A0A6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09</a:t>
            </a:r>
          </a:p>
        </p:txBody>
      </p:sp>
      <p:graphicFrame>
        <p:nvGraphicFramePr>
          <p:cNvPr id="3" name="">
            <a:extLst xmlns:a="http://schemas.openxmlformats.org/drawingml/2006/main">
              <a:ext uri="{FF2B5EF4-FFF2-40B4-BE49-F238E27FC236}">
                <a16:creationId xmlns:a16="http://schemas.microsoft.com/office/drawing/2014/main" id="{D274501B-D106-4B71-AB2F-FCA7B46B5EE3}"/>
              </a:ext>
            </a:extLst>
          </p:cNvPr>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firstRow="1" bandRow="0"/>
              <a:tblGrid>
                <a:gridCol w="4619625"/>
                <a:gridCol w="1952625"/>
                <a:gridCol w="2209800"/>
                <a:gridCol w="219075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Study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Queries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Documents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Timing passes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NFCorpus dev</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324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3,633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SCIDOCS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25,657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TREC original / indexed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50 / 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171,332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 / 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original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 complete</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indexed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 fixed</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A8E59625-6B3D-4C58-815F-018D69115D9F}"/>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Warmed T4 query timing. The indexed SQuAD run retains the full corpus but samples its questions.</a:t>
            </a:r>
          </a:p>
        </p:txBody>
      </p:sp>
    </p:spTree>
    <p:extLst>
      <p:ext uri="{BB962C8B-B14F-4D97-AF65-F5344CB8AC3E}">
        <p14:creationId xmlns:p14="http://schemas.microsoft.com/office/powerpoint/2010/main" val="2067653378"/>
      </p:ext>
    </p:extLst>
  </p:cSld>
</p:sld>
</file>

<file path=ppt/slides/slide1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AB9015-32A1-4635-A0C3-F5253141BC89}"/>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primary result</a:t>
            </a:r>
          </a:p>
        </p:txBody>
      </p:sp>
      <p:sp>
        <p:nvSpPr>
          <p:cNvPr id="2" name="">
            <a:extLst xmlns:a="http://schemas.openxmlformats.org/drawingml/2006/main">
              <a:ext uri="{FF2B5EF4-FFF2-40B4-BE49-F238E27FC236}">
                <a16:creationId xmlns:a16="http://schemas.microsoft.com/office/drawing/2014/main" id="{4383C5FE-DF37-4DBD-9049-B09D039FEF33}"/>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10</a:t>
            </a:r>
          </a:p>
        </p:txBody>
      </p:sp>
      <p:sp>
        <p:nvSpPr>
          <p:cNvPr id="3" name="">
            <a:extLst xmlns:a="http://schemas.openxmlformats.org/drawingml/2006/main">
              <a:ext uri="{FF2B5EF4-FFF2-40B4-BE49-F238E27FC236}">
                <a16:creationId xmlns:a16="http://schemas.microsoft.com/office/drawing/2014/main" id="{7BBBF2E2-4C7E-4A5A-8B5F-842E551978B5}"/>
              </a:ext>
            </a:extLst>
          </p:cNvPr>
          <p:cNvSpPr>
            <a:spLocks xmlns:a="http://schemas.openxmlformats.org/drawingml/2006/main" noGrp="1"/>
          </p:cNvSpPr>
          <p:nvPr/>
        </p:nvSpPr>
        <p:spPr>
          <a:xfrm xmlns:a="http://schemas.openxmlformats.org/drawingml/2006/main">
            <a:off x="609600" y="16668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17656A"/>
                </a:solidFill>
                <a:latin typeface="Newsreader"/>
                <a:ea typeface="Newsreader"/>
                <a:cs typeface="Newsreader"/>
              </a:defRPr>
            </a:defPPr>
          </a:lstStyle>
          <a:p xmlns:a="http://schemas.openxmlformats.org/drawingml/2006/main">
            <a:pPr algn="l">
              <a:defRPr sz="7050" b="0">
                <a:solidFill>
                  <a:srgbClr val="17656A"/>
                </a:solidFill>
                <a:latin typeface="Newsreader"/>
                <a:ea typeface="Newsreader"/>
                <a:cs typeface="Newsreader"/>
              </a:defRPr>
            </a:pPr>
            <a:r>
              <a:rPr sz="7050" b="0">
                <a:solidFill>
                  <a:srgbClr val="17656A"/>
                </a:solidFill>
                <a:latin typeface="Newsreader"/>
                <a:ea typeface="Newsreader"/>
                <a:cs typeface="Newsreader"/>
              </a:rPr>
              <a:t>1.24×</a:t>
            </a:r>
          </a:p>
        </p:txBody>
      </p:sp>
      <p:sp>
        <p:nvSpPr>
          <p:cNvPr id="4" name="">
            <a:extLst xmlns:a="http://schemas.openxmlformats.org/drawingml/2006/main">
              <a:ext uri="{FF2B5EF4-FFF2-40B4-BE49-F238E27FC236}">
                <a16:creationId xmlns:a16="http://schemas.microsoft.com/office/drawing/2014/main" id="{7824FA92-71CB-4635-A51B-EA63C01BB088}"/>
              </a:ext>
            </a:extLst>
          </p:cNvPr>
          <p:cNvSpPr>
            <a:spLocks xmlns:a="http://schemas.openxmlformats.org/drawingml/2006/main" noGrp="1"/>
          </p:cNvSpPr>
          <p:nvPr/>
        </p:nvSpPr>
        <p:spPr>
          <a:xfrm xmlns:a="http://schemas.openxmlformats.org/drawingml/2006/main">
            <a:off x="609600" y="29908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speedup over indexed fusion</a:t>
            </a:r>
          </a:p>
        </p:txBody>
      </p:sp>
      <p:sp>
        <p:nvSpPr>
          <p:cNvPr id="5" name="">
            <a:extLst xmlns:a="http://schemas.openxmlformats.org/drawingml/2006/main">
              <a:ext uri="{FF2B5EF4-FFF2-40B4-BE49-F238E27FC236}">
                <a16:creationId xmlns:a16="http://schemas.microsoft.com/office/drawing/2014/main" id="{30EF4370-366F-4893-BBE2-8DA22A937206}"/>
              </a:ext>
            </a:extLst>
          </p:cNvPr>
          <p:cNvSpPr>
            <a:spLocks xmlns:a="http://schemas.openxmlformats.org/drawingml/2006/main" noGrp="1"/>
          </p:cNvSpPr>
          <p:nvPr/>
        </p:nvSpPr>
        <p:spPr>
          <a:xfrm xmlns:a="http://schemas.openxmlformats.org/drawingml/2006/main">
            <a:off x="6334125" y="16668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75" b="0">
                <a:solidFill>
                  <a:srgbClr val="17656A"/>
                </a:solidFill>
                <a:latin typeface="Newsreader"/>
                <a:ea typeface="Newsreader"/>
                <a:cs typeface="Newsreader"/>
              </a:defRPr>
            </a:defPPr>
          </a:lstStyle>
          <a:p xmlns:a="http://schemas.openxmlformats.org/drawingml/2006/main">
            <a:pPr algn="l">
              <a:defRPr sz="6375" b="0">
                <a:solidFill>
                  <a:srgbClr val="17656A"/>
                </a:solidFill>
                <a:latin typeface="Newsreader"/>
                <a:ea typeface="Newsreader"/>
                <a:cs typeface="Newsreader"/>
              </a:defRPr>
            </a:pPr>
            <a:r>
              <a:rPr sz="6375" b="0">
                <a:solidFill>
                  <a:srgbClr val="17656A"/>
                </a:solidFill>
                <a:latin typeface="Newsreader"/>
                <a:ea typeface="Newsreader"/>
                <a:cs typeface="Newsreader"/>
              </a:rPr>
              <a:t>96.68%</a:t>
            </a:r>
          </a:p>
        </p:txBody>
      </p:sp>
      <p:sp>
        <p:nvSpPr>
          <p:cNvPr id="6" name="">
            <a:extLst xmlns:a="http://schemas.openxmlformats.org/drawingml/2006/main">
              <a:ext uri="{FF2B5EF4-FFF2-40B4-BE49-F238E27FC236}">
                <a16:creationId xmlns:a16="http://schemas.microsoft.com/office/drawing/2014/main" id="{F0510074-9E01-41C8-BDB4-C19E396F8153}"/>
              </a:ext>
            </a:extLst>
          </p:cNvPr>
          <p:cNvSpPr>
            <a:spLocks xmlns:a="http://schemas.openxmlformats.org/drawingml/2006/main" noGrp="1"/>
          </p:cNvSpPr>
          <p:nvPr/>
        </p:nvSpPr>
        <p:spPr>
          <a:xfrm xmlns:a="http://schemas.openxmlformats.org/drawingml/2006/main">
            <a:off x="6334125" y="29908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Recall@100 retained</a:t>
            </a:r>
          </a:p>
        </p:txBody>
      </p:sp>
      <p:sp>
        <p:nvSpPr>
          <p:cNvPr id="7" name="">
            <a:extLst xmlns:a="http://schemas.openxmlformats.org/drawingml/2006/main">
              <a:ext uri="{FF2B5EF4-FFF2-40B4-BE49-F238E27FC236}">
                <a16:creationId xmlns:a16="http://schemas.microsoft.com/office/drawing/2014/main" id="{76154547-1B7E-4EF9-AB7B-B3B99ADB8B38}"/>
              </a:ext>
            </a:extLst>
          </p:cNvPr>
          <p:cNvSpPr>
            <a:spLocks xmlns:a="http://schemas.openxmlformats.org/drawingml/2006/main" noGrp="1"/>
          </p:cNvSpPr>
          <p:nvPr/>
        </p:nvSpPr>
        <p:spPr>
          <a:xfrm xmlns:a="http://schemas.openxmlformats.org/drawingml/2006/main">
            <a:off x="609600" y="41719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42B2B"/>
                </a:solidFill>
                <a:latin typeface="IBM Plex Sans"/>
                <a:ea typeface="IBM Plex Sans"/>
                <a:cs typeface="IBM Plex Sans"/>
              </a:defRPr>
            </a:defPPr>
          </a:lstStyle>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91.28 ms indexed fusion / 73.90 ms indexed cascade</a:t>
            </a:r>
          </a:p>
        </p:txBody>
      </p:sp>
      <p:sp>
        <p:nvSpPr>
          <p:cNvPr id="8" name="">
            <a:extLst xmlns:a="http://schemas.openxmlformats.org/drawingml/2006/main">
              <a:ext uri="{FF2B5EF4-FFF2-40B4-BE49-F238E27FC236}">
                <a16:creationId xmlns:a16="http://schemas.microsoft.com/office/drawing/2014/main" id="{B47CAEC1-E39C-4667-B0B2-2F7E8D52B44C}"/>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Retention interval: 93.58–98.75%. All 50 queries, full corpus, three warmed passes.</a:t>
            </a:r>
          </a:p>
        </p:txBody>
      </p:sp>
    </p:spTree>
    <p:extLst>
      <p:ext uri="{BB962C8B-B14F-4D97-AF65-F5344CB8AC3E}">
        <p14:creationId xmlns:p14="http://schemas.microsoft.com/office/powerpoint/2010/main" val="1244522949"/>
      </p:ext>
    </p:extLst>
  </p:cSld>
</p:sld>
</file>

<file path=ppt/slides/slide1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E27C96-F412-404B-A8F7-6EE4671B74C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operating points</a:t>
            </a:r>
          </a:p>
        </p:txBody>
      </p:sp>
      <p:sp>
        <p:nvSpPr>
          <p:cNvPr id="2" name="">
            <a:extLst xmlns:a="http://schemas.openxmlformats.org/drawingml/2006/main">
              <a:ext uri="{FF2B5EF4-FFF2-40B4-BE49-F238E27FC236}">
                <a16:creationId xmlns:a16="http://schemas.microsoft.com/office/drawing/2014/main" id="{BA6DB480-5568-4F6B-A520-4CE0108652C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11</a:t>
            </a:r>
          </a:p>
        </p:txBody>
      </p:sp>
      <p:graphicFrame>
        <p:nvGraphicFramePr>
          <p:cNvPr id="3" name="">
            <a:extLst xmlns:a="http://schemas.openxmlformats.org/drawingml/2006/main">
              <a:ext uri="{FF2B5EF4-FFF2-40B4-BE49-F238E27FC236}">
                <a16:creationId xmlns:a16="http://schemas.microsoft.com/office/drawing/2014/main" id="{9A9F5B26-77DD-495E-8521-BFCD52EF7467}"/>
              </a:ext>
            </a:extLst>
          </p:cNvPr>
          <p:cNvGraphicFramePr/>
          <p:nvPr/>
        </p:nvGraphicFramePr>
        <p:xfrm>
          <a:off xmlns:a="http://schemas.openxmlformats.org/drawingml/2006/main" x="609600" y="1676400"/>
          <a:ext xmlns:a="http://schemas.openxmlformats.org/drawingml/2006/main" cx="10972800" cy="3238500"/>
        </p:xfrm>
        <a:graphic xmlns:a="http://schemas.openxmlformats.org/drawingml/2006/main">
          <a:graphicData uri="http://schemas.openxmlformats.org/drawingml/2006/table">
            <a:tbl>
              <a:tblPr firstRow="1" bandRow="0"/>
              <a:tblGrid>
                <a:gridCol w="3619500"/>
                <a:gridCol w="2571750"/>
                <a:gridCol w="2095500"/>
                <a:gridCol w="2686050"/>
              </a:tblGrid>
              <a:tr h="539750">
                <a:tc>
                  <a:txBody>
                    <a:bodyPr wrap="square" lIns="114300" tIns="76200" rIns="114300" bIns="76200">
                      <a:noAutofit/>
                    </a:bodyPr>
                    <a:lstStyle/>
                    <a:p>
                      <a:pPr algn="l"/>
                      <a:r>
                        <a:rPr sz="2025" b="1">
                          <a:solidFill>
                            <a:srgbClr val="242B2B"/>
                          </a:solidFill>
                          <a:latin typeface="IBM Plex Sans"/>
                          <a:ea typeface="IBM Plex Sans"/>
                          <a:cs typeface="IBM Plex Sans"/>
                        </a:rPr>
                        <a:t>Configuration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Retained recall</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vs indexed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Indexed 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96.68%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73.90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1.24x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91.95%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55.66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1.64x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41.99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2.17x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2.26x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B35E2620-B001-48E6-8A26-D7854BAF06D3}"/>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r95: interval crosses 90%. r92 / r90: observed recall falls below 90%. Primary remains r99.</a:t>
            </a:r>
          </a:p>
        </p:txBody>
      </p:sp>
    </p:spTree>
    <p:extLst>
      <p:ext uri="{BB962C8B-B14F-4D97-AF65-F5344CB8AC3E}">
        <p14:creationId xmlns:p14="http://schemas.microsoft.com/office/powerpoint/2010/main" val="558358048"/>
      </p:ext>
    </p:extLst>
  </p:cSld>
</p:sld>
</file>

<file path=ppt/slides/slide1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2625EA-BE01-4AC5-9CD5-8CC3D261040B}"/>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Indexing and routing combined</a:t>
            </a:r>
          </a:p>
        </p:txBody>
      </p:sp>
      <p:sp>
        <p:nvSpPr>
          <p:cNvPr id="2" name="">
            <a:extLst xmlns:a="http://schemas.openxmlformats.org/drawingml/2006/main">
              <a:ext uri="{FF2B5EF4-FFF2-40B4-BE49-F238E27FC236}">
                <a16:creationId xmlns:a16="http://schemas.microsoft.com/office/drawing/2014/main" id="{24B58A89-C91B-4815-9D8E-025878CBDE9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12</a:t>
            </a:r>
          </a:p>
        </p:txBody>
      </p:sp>
      <p:graphicFrame>
        <p:nvGraphicFramePr>
          <p:cNvPr id="3" name="Chart">
            <a:extLst xmlns:a="http://schemas.openxmlformats.org/drawingml/2006/main">
              <a:ext uri="{FF2B5EF4-FFF2-40B4-BE49-F238E27FC236}">
                <a16:creationId xmlns:a16="http://schemas.microsoft.com/office/drawing/2014/main" id="{9FE6359B-8D6C-4555-B682-DEE3B27B14C9}"/>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19b06e6501c34697"/>
          </a:graphicData>
        </a:graphic>
      </p:graphicFrame>
      <p:sp>
        <p:nvSpPr>
          <p:cNvPr id="4" name="">
            <a:extLst xmlns:a="http://schemas.openxmlformats.org/drawingml/2006/main">
              <a:ext uri="{FF2B5EF4-FFF2-40B4-BE49-F238E27FC236}">
                <a16:creationId xmlns:a16="http://schemas.microsoft.com/office/drawing/2014/main" id="{5A3C58B0-12CC-4E5D-B971-B4459B0B2F73}"/>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Retained recall after indexing: 100%, 96.68%, 91.95%, 84.53%, 84.53%. Separate runs include session variation.</a:t>
            </a:r>
          </a:p>
        </p:txBody>
      </p:sp>
    </p:spTree>
    <p:extLst>
      <p:ext uri="{BB962C8B-B14F-4D97-AF65-F5344CB8AC3E}">
        <p14:creationId xmlns:p14="http://schemas.microsoft.com/office/powerpoint/2010/main" val="2079205408"/>
      </p:ext>
    </p:extLst>
  </p:cSld>
</p:sld>
</file>

<file path=ppt/slides/slide1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A2BF31-8FC1-4C48-A273-2B8AC8B5B07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SQuAD sampled cascade results</a:t>
            </a:r>
          </a:p>
        </p:txBody>
      </p:sp>
      <p:sp>
        <p:nvSpPr>
          <p:cNvPr id="2" name="">
            <a:extLst xmlns:a="http://schemas.openxmlformats.org/drawingml/2006/main">
              <a:ext uri="{FF2B5EF4-FFF2-40B4-BE49-F238E27FC236}">
                <a16:creationId xmlns:a16="http://schemas.microsoft.com/office/drawing/2014/main" id="{13D9F8EE-57AF-44BA-A7D5-1DA8932B200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13</a:t>
            </a:r>
          </a:p>
        </p:txBody>
      </p:sp>
      <p:graphicFrame>
        <p:nvGraphicFramePr>
          <p:cNvPr id="3" name="Chart">
            <a:extLst xmlns:a="http://schemas.openxmlformats.org/drawingml/2006/main">
              <a:ext uri="{FF2B5EF4-FFF2-40B4-BE49-F238E27FC236}">
                <a16:creationId xmlns:a16="http://schemas.microsoft.com/office/drawing/2014/main" id="{76D8F75D-259A-4B0E-9613-B88C2D61CEC8}"/>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1ad608e927ce458b"/>
          </a:graphicData>
        </a:graphic>
      </p:graphicFrame>
      <p:sp>
        <p:nvSpPr>
          <p:cNvPr id="4" name="">
            <a:extLst xmlns:a="http://schemas.openxmlformats.org/drawingml/2006/main">
              <a:ext uri="{FF2B5EF4-FFF2-40B4-BE49-F238E27FC236}">
                <a16:creationId xmlns:a16="http://schemas.microsoft.com/office/drawing/2014/main" id="{6C58B0B7-75C6-4858-84D1-17FFEFD86AF6}"/>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Recall retained: 100%, 100%, 100%, 100%, 99.22%. 256 questions / full corpus / three passes.</a:t>
            </a:r>
          </a:p>
        </p:txBody>
      </p:sp>
    </p:spTree>
    <p:extLst>
      <p:ext uri="{BB962C8B-B14F-4D97-AF65-F5344CB8AC3E}">
        <p14:creationId xmlns:p14="http://schemas.microsoft.com/office/powerpoint/2010/main" val="160623270"/>
      </p:ext>
    </p:extLst>
  </p:cSld>
</p:sld>
</file>

<file path=ppt/slides/slide1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117B8D-2CF9-46BC-879A-599525A28D2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Standalone retrievers remain strong</a:t>
            </a:r>
          </a:p>
        </p:txBody>
      </p:sp>
      <p:sp>
        <p:nvSpPr>
          <p:cNvPr id="2" name="">
            <a:extLst xmlns:a="http://schemas.openxmlformats.org/drawingml/2006/main">
              <a:ext uri="{FF2B5EF4-FFF2-40B4-BE49-F238E27FC236}">
                <a16:creationId xmlns:a16="http://schemas.microsoft.com/office/drawing/2014/main" id="{3CC7FBEE-C6C6-49FF-99B5-726B39FA05E3}"/>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14</a:t>
            </a:r>
          </a:p>
        </p:txBody>
      </p:sp>
      <p:sp>
        <p:nvSpPr>
          <p:cNvPr id="3" name="">
            <a:extLst xmlns:a="http://schemas.openxmlformats.org/drawingml/2006/main">
              <a:ext uri="{FF2B5EF4-FFF2-40B4-BE49-F238E27FC236}">
                <a16:creationId xmlns:a16="http://schemas.microsoft.com/office/drawing/2014/main" id="{27053634-6DC1-47F9-85FE-910189FC0FCD}"/>
              </a:ext>
            </a:extLst>
          </p:cNvPr>
          <p:cNvSpPr>
            <a:spLocks xmlns:a="http://schemas.openxmlformats.org/drawingml/2006/main" noGrp="1"/>
          </p:cNvSpPr>
          <p:nvPr/>
        </p:nvSpPr>
        <p:spPr>
          <a:xfrm xmlns:a="http://schemas.openxmlformats.org/drawingml/2006/main">
            <a:off x="609600" y="15811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TREC-COVID</a:t>
            </a:r>
          </a:p>
        </p:txBody>
      </p:sp>
      <p:sp>
        <p:nvSpPr>
          <p:cNvPr id="4" name="">
            <a:extLst xmlns:a="http://schemas.openxmlformats.org/drawingml/2006/main">
              <a:ext uri="{FF2B5EF4-FFF2-40B4-BE49-F238E27FC236}">
                <a16:creationId xmlns:a16="http://schemas.microsoft.com/office/drawing/2014/main" id="{ACEB4661-C0C6-4D15-B71F-6CF4C1FB1630}"/>
              </a:ext>
            </a:extLst>
          </p:cNvPr>
          <p:cNvSpPr>
            <a:spLocks xmlns:a="http://schemas.openxmlformats.org/drawingml/2006/main" noGrp="1"/>
          </p:cNvSpPr>
          <p:nvPr/>
        </p:nvSpPr>
        <p:spPr>
          <a:xfrm xmlns:a="http://schemas.openxmlformats.org/drawingml/2006/main">
            <a:off x="6334125" y="158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SQuAD, same sample</a:t>
            </a:r>
          </a:p>
        </p:txBody>
      </p:sp>
      <p:graphicFrame>
        <p:nvGraphicFramePr>
          <p:cNvPr id="5" name="">
            <a:extLst xmlns:a="http://schemas.openxmlformats.org/drawingml/2006/main">
              <a:ext uri="{FF2B5EF4-FFF2-40B4-BE49-F238E27FC236}">
                <a16:creationId xmlns:a16="http://schemas.microsoft.com/office/drawing/2014/main" id="{0DB8E393-F48C-409D-A9AC-A6DBFE442312}"/>
              </a:ext>
            </a:extLst>
          </p:cNvPr>
          <p:cNvGraphicFramePr/>
          <p:nvPr/>
        </p:nvGraphicFramePr>
        <p:xfrm>
          <a:off xmlns:a="http://schemas.openxmlformats.org/drawingml/2006/main" x="609600"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8.11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71.38%</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69.81%</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52.77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104.69%</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0D2241F2-3069-4FC2-A214-348E4A1347A3}"/>
              </a:ext>
            </a:extLst>
          </p:cNvPr>
          <p:cNvGraphicFramePr/>
          <p:nvPr/>
        </p:nvGraphicFramePr>
        <p:xfrm>
          <a:off xmlns:a="http://schemas.openxmlformats.org/drawingml/2006/main" x="6334125"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29.55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16.96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98.83%</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7" name="">
            <a:extLst xmlns:a="http://schemas.openxmlformats.org/drawingml/2006/main">
              <a:ext uri="{FF2B5EF4-FFF2-40B4-BE49-F238E27FC236}">
                <a16:creationId xmlns:a16="http://schemas.microsoft.com/office/drawing/2014/main" id="{1FDFF7D1-A886-4C15-8249-1A231C6915A8}"/>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SPLADE favors TREC recall/time. BM25 already clears the sampled SQuAD 90% floor. Ranking metrics still differ.</a:t>
            </a:r>
          </a:p>
        </p:txBody>
      </p:sp>
    </p:spTree>
    <p:extLst>
      <p:ext uri="{BB962C8B-B14F-4D97-AF65-F5344CB8AC3E}">
        <p14:creationId xmlns:p14="http://schemas.microsoft.com/office/powerpoint/2010/main" val="580662177"/>
      </p:ext>
    </p:extLst>
  </p:cSld>
</p:sld>
</file>

<file path=ppt/slides/slide1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19EDA7-0DD5-40CE-8E6C-A5F6F01C14D2}"/>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Earlier transfer findings</a:t>
            </a:r>
          </a:p>
        </p:txBody>
      </p:sp>
      <p:sp>
        <p:nvSpPr>
          <p:cNvPr id="2" name="">
            <a:extLst xmlns:a="http://schemas.openxmlformats.org/drawingml/2006/main">
              <a:ext uri="{FF2B5EF4-FFF2-40B4-BE49-F238E27FC236}">
                <a16:creationId xmlns:a16="http://schemas.microsoft.com/office/drawing/2014/main" id="{20EFB0FB-3781-4EED-B453-EED312B60978}"/>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15</a:t>
            </a:r>
          </a:p>
        </p:txBody>
      </p:sp>
      <p:graphicFrame>
        <p:nvGraphicFramePr>
          <p:cNvPr id="3" name="">
            <a:extLst xmlns:a="http://schemas.openxmlformats.org/drawingml/2006/main">
              <a:ext uri="{FF2B5EF4-FFF2-40B4-BE49-F238E27FC236}">
                <a16:creationId xmlns:a16="http://schemas.microsoft.com/office/drawing/2014/main" id="{A8AC914A-93D3-457D-A2C7-C314CF0418DC}"/>
              </a:ext>
            </a:extLst>
          </p:cNvPr>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firstRow="1" bandRow="0"/>
              <a:tblGrid>
                <a:gridCol w="4572000"/>
                <a:gridCol w="1619250"/>
                <a:gridCol w="2381250"/>
                <a:gridCol w="2400300"/>
              </a:tblGrid>
              <a:tr h="628650">
                <a:tc>
                  <a:txBody>
                    <a:bodyPr wrap="square" lIns="114300" tIns="76200" rIns="114300" bIns="76200">
                      <a:noAutofit/>
                    </a:bodyPr>
                    <a:lstStyle/>
                    <a:p>
                      <a:pPr algn="l"/>
                      <a:r>
                        <a:rPr sz="1950" b="1">
                          <a:solidFill>
                            <a:srgbClr val="242B2B"/>
                          </a:solidFill>
                          <a:latin typeface="IBM Plex Sans"/>
                          <a:ea typeface="IBM Plex Sans"/>
                          <a:cs typeface="IBM Plex Sans"/>
                        </a:rPr>
                        <a:t>Original backend study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Primary</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Time saved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NFCorpus dev</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94.74%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23.00%</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SCIDOCS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90.01%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5.53%</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TREC-COVID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3.56%</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SQuAD, full queries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99.38%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6.12%</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1C433FBA-6AC8-4FB2-9FA6-51ED6B5EF73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primaries retain their labels. All nominal targets miss on SCIDOCS and TREC-COVID.</a:t>
            </a:r>
          </a:p>
        </p:txBody>
      </p:sp>
    </p:spTree>
    <p:extLst>
      <p:ext uri="{BB962C8B-B14F-4D97-AF65-F5344CB8AC3E}">
        <p14:creationId xmlns:p14="http://schemas.microsoft.com/office/powerpoint/2010/main" val="542003478"/>
      </p:ext>
    </p:extLst>
  </p:cSld>
</p:sld>
</file>

<file path=ppt/slides/slide1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D20BCC-28EF-4034-82E6-3A631673EC5A}"/>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Saved evidence and compatibility</a:t>
            </a:r>
          </a:p>
        </p:txBody>
      </p:sp>
      <p:sp>
        <p:nvSpPr>
          <p:cNvPr id="2" name="">
            <a:extLst xmlns:a="http://schemas.openxmlformats.org/drawingml/2006/main">
              <a:ext uri="{FF2B5EF4-FFF2-40B4-BE49-F238E27FC236}">
                <a16:creationId xmlns:a16="http://schemas.microsoft.com/office/drawing/2014/main" id="{28BFE1A8-1AD1-4F43-A392-26C0C4EBEE71}"/>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16</a:t>
            </a:r>
          </a:p>
        </p:txBody>
      </p:sp>
      <p:sp>
        <p:nvSpPr>
          <p:cNvPr id="3" name="">
            <a:extLst xmlns:a="http://schemas.openxmlformats.org/drawingml/2006/main">
              <a:ext uri="{FF2B5EF4-FFF2-40B4-BE49-F238E27FC236}">
                <a16:creationId xmlns:a16="http://schemas.microsoft.com/office/drawing/2014/main" id="{E3EC825B-CB23-4133-90FF-6B421F6F9EA7}"/>
              </a:ext>
            </a:extLst>
          </p:cNvPr>
          <p:cNvSpPr>
            <a:spLocks xmlns:a="http://schemas.openxmlformats.org/drawingml/2006/main" noGrp="1"/>
          </p:cNvSpPr>
          <p:nvPr/>
        </p:nvSpPr>
        <p:spPr>
          <a:xfrm xmlns:a="http://schemas.openxmlformats.org/drawingml/2006/main">
            <a:off x="609600" y="16668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400</a:t>
            </a:r>
          </a:p>
        </p:txBody>
      </p:sp>
      <p:sp>
        <p:nvSpPr>
          <p:cNvPr id="4" name="">
            <a:extLst xmlns:a="http://schemas.openxmlformats.org/drawingml/2006/main">
              <a:ext uri="{FF2B5EF4-FFF2-40B4-BE49-F238E27FC236}">
                <a16:creationId xmlns:a16="http://schemas.microsoft.com/office/drawing/2014/main" id="{D236B3BB-F071-4638-8EBB-2FEB8DE88E5C}"/>
              </a:ext>
            </a:extLst>
          </p:cNvPr>
          <p:cNvSpPr>
            <a:spLocks xmlns:a="http://schemas.openxmlformats.org/drawingml/2006/main" noGrp="1"/>
          </p:cNvSpPr>
          <p:nvPr/>
        </p:nvSpPr>
        <p:spPr>
          <a:xfrm xmlns:a="http://schemas.openxmlformats.org/drawingml/2006/main">
            <a:off x="609600"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TREC first-pass rankings</a:t>
            </a:r>
          </a:p>
        </p:txBody>
      </p:sp>
      <p:sp>
        <p:nvSpPr>
          <p:cNvPr id="5" name="">
            <a:extLst xmlns:a="http://schemas.openxmlformats.org/drawingml/2006/main">
              <a:ext uri="{FF2B5EF4-FFF2-40B4-BE49-F238E27FC236}">
                <a16:creationId xmlns:a16="http://schemas.microsoft.com/office/drawing/2014/main" id="{6D163769-0485-4164-B937-5242165D164C}"/>
              </a:ext>
            </a:extLst>
          </p:cNvPr>
          <p:cNvSpPr>
            <a:spLocks xmlns:a="http://schemas.openxmlformats.org/drawingml/2006/main" noGrp="1"/>
          </p:cNvSpPr>
          <p:nvPr/>
        </p:nvSpPr>
        <p:spPr>
          <a:xfrm xmlns:a="http://schemas.openxmlformats.org/drawingml/2006/main">
            <a:off x="6334125" y="16668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2,048</a:t>
            </a:r>
          </a:p>
        </p:txBody>
      </p:sp>
      <p:sp>
        <p:nvSpPr>
          <p:cNvPr id="6" name="">
            <a:extLst xmlns:a="http://schemas.openxmlformats.org/drawingml/2006/main">
              <a:ext uri="{FF2B5EF4-FFF2-40B4-BE49-F238E27FC236}">
                <a16:creationId xmlns:a16="http://schemas.microsoft.com/office/drawing/2014/main" id="{A0623F06-F123-48D8-B60C-AD079811C585}"/>
              </a:ext>
            </a:extLst>
          </p:cNvPr>
          <p:cNvSpPr>
            <a:spLocks xmlns:a="http://schemas.openxmlformats.org/drawingml/2006/main" noGrp="1"/>
          </p:cNvSpPr>
          <p:nvPr/>
        </p:nvSpPr>
        <p:spPr>
          <a:xfrm xmlns:a="http://schemas.openxmlformats.org/drawingml/2006/main">
            <a:off x="6334125"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Sampled SQuAD rankings</a:t>
            </a:r>
          </a:p>
        </p:txBody>
      </p:sp>
      <p:sp>
        <p:nvSpPr>
          <p:cNvPr id="7" name="">
            <a:extLst xmlns:a="http://schemas.openxmlformats.org/drawingml/2006/main">
              <a:ext uri="{FF2B5EF4-FFF2-40B4-BE49-F238E27FC236}">
                <a16:creationId xmlns:a16="http://schemas.microsoft.com/office/drawing/2014/main" id="{AE198F4D-90FE-4A2D-8A47-25FA25931186}"/>
              </a:ext>
            </a:extLst>
          </p:cNvPr>
          <p:cNvSpPr>
            <a:spLocks xmlns:a="http://schemas.openxmlformats.org/drawingml/2006/main" noGrp="1"/>
          </p:cNvSpPr>
          <p:nvPr/>
        </p:nvSpPr>
        <p:spPr>
          <a:xfrm xmlns:a="http://schemas.openxmlformats.org/drawingml/2006/main">
            <a:off x="609600" y="40290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Exact IDs, scores, routes and recalls across backends</a:t>
            </a:r>
          </a:p>
        </p:txBody>
      </p:sp>
      <p:sp>
        <p:nvSpPr>
          <p:cNvPr id="8" name="">
            <a:extLst xmlns:a="http://schemas.openxmlformats.org/drawingml/2006/main">
              <a:ext uri="{FF2B5EF4-FFF2-40B4-BE49-F238E27FC236}">
                <a16:creationId xmlns:a16="http://schemas.microsoft.com/office/drawing/2014/main" id="{E4C84E36-E021-4B8F-A590-31CEF67E2FBE}"/>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Independent raw-label scoring reproduces quality. Timing and wider hardware behavior remain experimental limits.</a:t>
            </a:r>
          </a:p>
        </p:txBody>
      </p:sp>
    </p:spTree>
    <p:extLst>
      <p:ext uri="{BB962C8B-B14F-4D97-AF65-F5344CB8AC3E}">
        <p14:creationId xmlns:p14="http://schemas.microsoft.com/office/powerpoint/2010/main" val="158792848"/>
      </p:ext>
    </p:extLst>
  </p:cSld>
</p:sld>
</file>

<file path=ppt/slides/slide1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8FCA37-02DD-405A-9093-9E994E0388DA}"/>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Implementation and reproducibility</a:t>
            </a:r>
          </a:p>
        </p:txBody>
      </p:sp>
      <p:sp>
        <p:nvSpPr>
          <p:cNvPr id="2" name="">
            <a:extLst xmlns:a="http://schemas.openxmlformats.org/drawingml/2006/main">
              <a:ext uri="{FF2B5EF4-FFF2-40B4-BE49-F238E27FC236}">
                <a16:creationId xmlns:a16="http://schemas.microsoft.com/office/drawing/2014/main" id="{506BA994-62BA-4161-A2B7-CA77C8A72D1D}"/>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17</a:t>
            </a:r>
          </a:p>
        </p:txBody>
      </p:sp>
      <p:graphicFrame>
        <p:nvGraphicFramePr>
          <p:cNvPr id="3" name="">
            <a:extLst xmlns:a="http://schemas.openxmlformats.org/drawingml/2006/main">
              <a:ext uri="{FF2B5EF4-FFF2-40B4-BE49-F238E27FC236}">
                <a16:creationId xmlns:a16="http://schemas.microsoft.com/office/drawing/2014/main" id="{068D4F63-FE3C-4C57-9E7D-DF10FE509E69}"/>
              </a:ext>
            </a:extLst>
          </p:cNvPr>
          <p:cNvGraphicFramePr/>
          <p:nvPr/>
        </p:nvGraphicFramePr>
        <p:xfrm>
          <a:off xmlns:a="http://schemas.openxmlformats.org/drawingml/2006/main" x="609600" y="1676400"/>
          <a:ext xmlns:a="http://schemas.openxmlformats.org/drawingml/2006/main" cx="10972800" cy="3333750"/>
        </p:xfrm>
        <a:graphic xmlns:a="http://schemas.openxmlformats.org/drawingml/2006/main">
          <a:graphicData uri="http://schemas.openxmlformats.org/drawingml/2006/table">
            <a:tbl>
              <a:tblPr firstRow="1" bandRow="0"/>
              <a:tblGrid>
                <a:gridCol w="5905500"/>
                <a:gridCol w="506730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File or group</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Responsibility</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src/indexed_bm25.py</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Compatible lexical postings</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Frozen routers + indexed protocol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Weights, thresholds, revisions and hashes</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Indexed query execution</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Experiments 22 / 29 / 30 / 31</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Import, rescore and compare saved evidence</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32 + publication tools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Rebuild figures and report artifacts</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0572623F-750B-4CD0-8893-BCCF58B8968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Source paths remain recognizable. Large local inputs are ignored and restored separately when needed.</a:t>
            </a:r>
          </a:p>
        </p:txBody>
      </p:sp>
    </p:spTree>
    <p:extLst>
      <p:ext uri="{BB962C8B-B14F-4D97-AF65-F5344CB8AC3E}">
        <p14:creationId xmlns:p14="http://schemas.microsoft.com/office/powerpoint/2010/main" val="1885788895"/>
      </p:ext>
    </p:extLst>
  </p:cSld>
</p:sld>
</file>

<file path=ppt/slides/slide1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BA92A6-30E0-411C-96C4-5F1B2B7CF5D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What to improve in a next study</a:t>
            </a:r>
          </a:p>
        </p:txBody>
      </p:sp>
      <p:sp>
        <p:nvSpPr>
          <p:cNvPr id="2" name="">
            <a:extLst xmlns:a="http://schemas.openxmlformats.org/drawingml/2006/main">
              <a:ext uri="{FF2B5EF4-FFF2-40B4-BE49-F238E27FC236}">
                <a16:creationId xmlns:a16="http://schemas.microsoft.com/office/drawing/2014/main" id="{FAEEFA52-B52F-414C-AAC1-F2CC193C6D90}"/>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18</a:t>
            </a:r>
          </a:p>
        </p:txBody>
      </p:sp>
      <p:sp>
        <p:nvSpPr>
          <p:cNvPr id="3" name="">
            <a:extLst xmlns:a="http://schemas.openxmlformats.org/drawingml/2006/main">
              <a:ext uri="{FF2B5EF4-FFF2-40B4-BE49-F238E27FC236}">
                <a16:creationId xmlns:a16="http://schemas.microsoft.com/office/drawing/2014/main" id="{D6CBDA70-5705-4DDB-A689-36C1DF5FA08E}"/>
              </a:ext>
            </a:extLst>
          </p:cNvPr>
          <p:cNvSpPr>
            <a:spLocks xmlns:a="http://schemas.openxmlformats.org/drawingml/2006/main" noGrp="1"/>
          </p:cNvSpPr>
          <p:nvPr/>
        </p:nvSpPr>
        <p:spPr>
          <a:xfrm xmlns:a="http://schemas.openxmlformats.org/drawingml/2006/main">
            <a:off x="609600" y="16954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42B2B"/>
                </a:solidFill>
                <a:latin typeface="Newsreader"/>
                <a:ea typeface="Newsreader"/>
                <a:cs typeface="Newsreader"/>
              </a:defRPr>
            </a:defPPr>
          </a:lstStyle>
          <a:p xmlns:a="http://schemas.openxmlformats.org/drawingml/2006/main">
            <a:pPr algn="l">
              <a:defRPr sz="3000" b="0">
                <a:solidFill>
                  <a:srgbClr val="242B2B"/>
                </a:solidFill>
                <a:latin typeface="Newsreader"/>
                <a:ea typeface="Newsreader"/>
                <a:cs typeface="Newsreader"/>
              </a:defRPr>
            </a:pPr>
            <a:r>
              <a:rPr sz="3000" b="0">
                <a:solidFill>
                  <a:srgbClr val="242B2B"/>
                </a:solidFill>
                <a:latin typeface="Newsreader"/>
                <a:ea typeface="Newsreader"/>
                <a:cs typeface="Newsreader"/>
              </a:rPr>
              <a:t>Full NQ, HotpotQA and CoQA remain deferred</a:t>
            </a:r>
          </a:p>
        </p:txBody>
      </p:sp>
      <p:sp>
        <p:nvSpPr>
          <p:cNvPr id="4" name="">
            <a:extLst xmlns:a="http://schemas.openxmlformats.org/drawingml/2006/main">
              <a:ext uri="{FF2B5EF4-FFF2-40B4-BE49-F238E27FC236}">
                <a16:creationId xmlns:a16="http://schemas.microsoft.com/office/drawing/2014/main" id="{3DA59701-960F-464C-8676-42BD6DE9A49D}"/>
              </a:ext>
            </a:extLst>
          </p:cNvPr>
          <p:cNvSpPr>
            <a:spLocks xmlns:a="http://schemas.openxmlformats.org/drawingml/2006/main" noGrp="1"/>
          </p:cNvSpPr>
          <p:nvPr/>
        </p:nvSpPr>
        <p:spPr>
          <a:xfrm xmlns:a="http://schemas.openxmlformats.org/drawingml/2006/main">
            <a:off x="609600" y="30861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Generated-answer EM/F1 and modern adaptive baselines remain unmeasured</a:t>
            </a:r>
          </a:p>
        </p:txBody>
      </p:sp>
      <p:sp>
        <p:nvSpPr>
          <p:cNvPr id="5" name="">
            <a:extLst xmlns:a="http://schemas.openxmlformats.org/drawingml/2006/main">
              <a:ext uri="{FF2B5EF4-FFF2-40B4-BE49-F238E27FC236}">
                <a16:creationId xmlns:a16="http://schemas.microsoft.com/office/drawing/2014/main" id="{A4824B83-66B9-42CE-820C-93607F25071E}"/>
              </a:ext>
            </a:extLst>
          </p:cNvPr>
          <p:cNvSpPr>
            <a:spLocks xmlns:a="http://schemas.openxmlformats.org/drawingml/2006/main" noGrp="1"/>
          </p:cNvSpPr>
          <p:nvPr/>
        </p:nvSpPr>
        <p:spPr>
          <a:xfrm xmlns:a="http://schemas.openxmlformats.org/drawingml/2006/main">
            <a:off x="609600" y="45910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Test new queries under a declared protocol; include hardware, load, energy and index costs.</a:t>
            </a:r>
          </a:p>
        </p:txBody>
      </p:sp>
    </p:spTree>
    <p:extLst>
      <p:ext uri="{BB962C8B-B14F-4D97-AF65-F5344CB8AC3E}">
        <p14:creationId xmlns:p14="http://schemas.microsoft.com/office/powerpoint/2010/main" val="2019117313"/>
      </p:ext>
    </p:extLst>
  </p:cSld>
</p:sld>
</file>

<file path=ppt/slides/slide1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AF25E4-DFC1-4716-AF88-6B01FD6DCBCD}"/>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Overall review</a:t>
            </a:r>
          </a:p>
        </p:txBody>
      </p:sp>
      <p:sp>
        <p:nvSpPr>
          <p:cNvPr id="2" name="">
            <a:extLst xmlns:a="http://schemas.openxmlformats.org/drawingml/2006/main">
              <a:ext uri="{FF2B5EF4-FFF2-40B4-BE49-F238E27FC236}">
                <a16:creationId xmlns:a16="http://schemas.microsoft.com/office/drawing/2014/main" id="{41E76305-0A91-4F23-8896-CC0DDEAC2BC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19</a:t>
            </a:r>
          </a:p>
        </p:txBody>
      </p:sp>
      <p:sp>
        <p:nvSpPr>
          <p:cNvPr id="3" name="">
            <a:extLst xmlns:a="http://schemas.openxmlformats.org/drawingml/2006/main">
              <a:ext uri="{FF2B5EF4-FFF2-40B4-BE49-F238E27FC236}">
                <a16:creationId xmlns:a16="http://schemas.microsoft.com/office/drawing/2014/main" id="{6C278A34-CB5A-400C-BB2D-F8975CDD7B80}"/>
              </a:ext>
            </a:extLst>
          </p:cNvPr>
          <p:cNvSpPr>
            <a:spLocks xmlns:a="http://schemas.openxmlformats.org/drawingml/2006/main" noGrp="1"/>
          </p:cNvSpPr>
          <p:nvPr/>
        </p:nvSpPr>
        <p:spPr>
          <a:xfrm xmlns:a="http://schemas.openxmlformats.org/drawingml/2006/main">
            <a:off x="60960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0">
                <a:solidFill>
                  <a:srgbClr val="17656A"/>
                </a:solidFill>
                <a:latin typeface="Newsreader"/>
                <a:ea typeface="Newsreader"/>
                <a:cs typeface="Newsreader"/>
              </a:defRPr>
            </a:defPPr>
          </a:lstStyle>
          <a:p xmlns:a="http://schemas.openxmlformats.org/drawingml/2006/main">
            <a:pPr algn="l">
              <a:defRPr sz="5775" b="0">
                <a:solidFill>
                  <a:srgbClr val="17656A"/>
                </a:solidFill>
                <a:latin typeface="Newsreader"/>
                <a:ea typeface="Newsreader"/>
                <a:cs typeface="Newsreader"/>
              </a:defRPr>
            </a:pPr>
            <a:r>
              <a:rPr sz="5775" b="0">
                <a:solidFill>
                  <a:srgbClr val="17656A"/>
                </a:solidFill>
                <a:latin typeface="Newsreader"/>
                <a:ea typeface="Newsreader"/>
                <a:cs typeface="Newsreader"/>
              </a:rPr>
              <a:t>20.21x at 96.68%</a:t>
            </a:r>
          </a:p>
        </p:txBody>
      </p:sp>
      <p:sp>
        <p:nvSpPr>
          <p:cNvPr id="4" name="">
            <a:extLst xmlns:a="http://schemas.openxmlformats.org/drawingml/2006/main">
              <a:ext uri="{FF2B5EF4-FFF2-40B4-BE49-F238E27FC236}">
                <a16:creationId xmlns:a16="http://schemas.microsoft.com/office/drawing/2014/main" id="{EE3BEE00-40AC-411D-A366-2FF7DD83D942}"/>
              </a:ext>
            </a:extLst>
          </p:cNvPr>
          <p:cNvSpPr>
            <a:spLocks xmlns:a="http://schemas.openxmlformats.org/drawingml/2006/main" noGrp="1"/>
          </p:cNvSpPr>
          <p:nvPr/>
        </p:nvSpPr>
        <p:spPr>
          <a:xfrm xmlns:a="http://schemas.openxmlformats.org/drawingml/2006/main">
            <a:off x="609600" y="2857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Combined gain vs our earlier fusion; includes 1.24x routing over indexed fusion</a:t>
            </a:r>
          </a:p>
        </p:txBody>
      </p:sp>
      <p:sp>
        <p:nvSpPr>
          <p:cNvPr id="5" name="">
            <a:extLst xmlns:a="http://schemas.openxmlformats.org/drawingml/2006/main">
              <a:ext uri="{FF2B5EF4-FFF2-40B4-BE49-F238E27FC236}">
                <a16:creationId xmlns:a16="http://schemas.microsoft.com/office/drawing/2014/main" id="{35553CBF-EA41-489F-8BD0-00A72AD2C3C1}"/>
              </a:ext>
            </a:extLst>
          </p:cNvPr>
          <p:cNvSpPr>
            <a:spLocks xmlns:a="http://schemas.openxmlformats.org/drawingml/2006/main" noGrp="1"/>
          </p:cNvSpPr>
          <p:nvPr/>
        </p:nvSpPr>
        <p:spPr>
          <a:xfrm xmlns:a="http://schemas.openxmlformats.org/drawingml/2006/main">
            <a:off x="609600" y="401955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0">
                <a:solidFill>
                  <a:srgbClr val="242B2B"/>
                </a:solidFill>
                <a:latin typeface="Newsreader"/>
                <a:ea typeface="Newsreader"/>
                <a:cs typeface="Newsreader"/>
              </a:defRPr>
            </a:defPPr>
          </a:lstStyle>
          <a:p xmlns:a="http://schemas.openxmlformats.org/drawingml/2006/main">
            <a:pPr algn="l">
              <a:defRPr sz="4500" b="0">
                <a:solidFill>
                  <a:srgbClr val="242B2B"/>
                </a:solidFill>
                <a:latin typeface="Newsreader"/>
                <a:ea typeface="Newsreader"/>
                <a:cs typeface="Newsreader"/>
              </a:defRPr>
            </a:pPr>
            <a:r>
              <a:rPr sz="4500" b="0">
                <a:solidFill>
                  <a:srgbClr val="242B2B"/>
                </a:solidFill>
                <a:latin typeface="Newsreader"/>
                <a:ea typeface="Newsreader"/>
                <a:cs typeface="Newsreader"/>
              </a:rPr>
              <a:t>7.91x at 99.22%</a:t>
            </a:r>
          </a:p>
        </p:txBody>
      </p:sp>
      <p:sp>
        <p:nvSpPr>
          <p:cNvPr id="6" name="">
            <a:extLst xmlns:a="http://schemas.openxmlformats.org/drawingml/2006/main">
              <a:ext uri="{FF2B5EF4-FFF2-40B4-BE49-F238E27FC236}">
                <a16:creationId xmlns:a16="http://schemas.microsoft.com/office/drawing/2014/main" id="{6FC252B7-0D77-4C05-88B6-6C045B800159}"/>
              </a:ext>
            </a:extLst>
          </p:cNvPr>
          <p:cNvSpPr>
            <a:spLocks xmlns:a="http://schemas.openxmlformats.org/drawingml/2006/main" noGrp="1"/>
          </p:cNvSpPr>
          <p:nvPr/>
        </p:nvSpPr>
        <p:spPr>
          <a:xfrm xmlns:a="http://schemas.openxmlformats.org/drawingml/2006/main">
            <a:off x="609600" y="4953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Combined gain vs our earlier fusion; 1.59x vs indexed fusion, 256 questions</a:t>
            </a:r>
          </a:p>
        </p:txBody>
      </p:sp>
      <p:sp>
        <p:nvSpPr>
          <p:cNvPr id="7" name="">
            <a:extLst xmlns:a="http://schemas.openxmlformats.org/drawingml/2006/main">
              <a:ext uri="{FF2B5EF4-FFF2-40B4-BE49-F238E27FC236}">
                <a16:creationId xmlns:a16="http://schemas.microsoft.com/office/drawing/2014/main" id="{C04AA27D-56F5-4A19-85BD-9E380734D6FB}"/>
              </a:ext>
            </a:extLst>
          </p:cNvPr>
          <p:cNvSpPr>
            <a:spLocks xmlns:a="http://schemas.openxmlformats.org/drawingml/2006/main" noGrp="1"/>
          </p:cNvSpPr>
          <p:nvPr/>
        </p:nvSpPr>
        <p:spPr>
          <a:xfrm xmlns:a="http://schemas.openxmlformats.org/drawingml/2006/main">
            <a:off x="609600" y="60293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 measured execution contribution with explicit quality and baseline limits</a:t>
            </a:r>
          </a:p>
        </p:txBody>
      </p:sp>
    </p:spTree>
    <p:extLst>
      <p:ext uri="{BB962C8B-B14F-4D97-AF65-F5344CB8AC3E}">
        <p14:creationId xmlns:p14="http://schemas.microsoft.com/office/powerpoint/2010/main" val="987589477"/>
      </p:ext>
    </p:extLst>
  </p:cSld>
</p:sld>
</file>

<file path=ppt/slides/slide2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BCCAD0-B6D9-4DCA-A58A-2DF389A8A67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TREC-COVID quality metrics</a:t>
            </a:r>
          </a:p>
        </p:txBody>
      </p:sp>
      <p:sp>
        <p:nvSpPr>
          <p:cNvPr id="2" name="">
            <a:extLst xmlns:a="http://schemas.openxmlformats.org/drawingml/2006/main">
              <a:ext uri="{FF2B5EF4-FFF2-40B4-BE49-F238E27FC236}">
                <a16:creationId xmlns:a16="http://schemas.microsoft.com/office/drawing/2014/main" id="{A7F8FCB4-2251-460D-9D99-9AA6CA8072E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20</a:t>
            </a:r>
          </a:p>
        </p:txBody>
      </p:sp>
      <p:graphicFrame>
        <p:nvGraphicFramePr>
          <p:cNvPr id="3" name="">
            <a:extLst xmlns:a="http://schemas.openxmlformats.org/drawingml/2006/main">
              <a:ext uri="{FF2B5EF4-FFF2-40B4-BE49-F238E27FC236}">
                <a16:creationId xmlns:a16="http://schemas.microsoft.com/office/drawing/2014/main" id="{4D80BF62-2722-4AC4-B532-CB936038A397}"/>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Indexed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Original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0.1225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0.7632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0.0186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16.36x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0.5497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0.0114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8.11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11.25x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184.02x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0.4725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0.0105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49.10x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52.77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1.73x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28.29x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0.1184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73.90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1.24x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20.21x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0.1126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0.7056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55.66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26.83x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41.99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2.17x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35.56x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0.6512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2.26x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36.96x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81A587B3-4AEA-4D9A-B11A-3CFB3C77FDC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All 50 queries, 171,332 documents, three indexed passes.</a:t>
            </a:r>
          </a:p>
        </p:txBody>
      </p:sp>
    </p:spTree>
    <p:extLst>
      <p:ext uri="{BB962C8B-B14F-4D97-AF65-F5344CB8AC3E}">
        <p14:creationId xmlns:p14="http://schemas.microsoft.com/office/powerpoint/2010/main" val="756001758"/>
      </p:ext>
    </p:extLst>
  </p:cSld>
</p:sld>
</file>

<file path=ppt/slides/slide2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2EB892-17C5-474A-AB58-68149F19FFFE}"/>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SQuAD sample quality metrics</a:t>
            </a:r>
          </a:p>
        </p:txBody>
      </p:sp>
      <p:sp>
        <p:nvSpPr>
          <p:cNvPr id="2" name="">
            <a:extLst xmlns:a="http://schemas.openxmlformats.org/drawingml/2006/main">
              <a:ext uri="{FF2B5EF4-FFF2-40B4-BE49-F238E27FC236}">
                <a16:creationId xmlns:a16="http://schemas.microsoft.com/office/drawing/2014/main" id="{0F5D5B0E-CA9F-4C3A-9BCF-B44700F1514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21</a:t>
            </a:r>
          </a:p>
        </p:txBody>
      </p:sp>
      <p:graphicFrame>
        <p:nvGraphicFramePr>
          <p:cNvPr id="3" name="">
            <a:extLst xmlns:a="http://schemas.openxmlformats.org/drawingml/2006/main">
              <a:ext uri="{FF2B5EF4-FFF2-40B4-BE49-F238E27FC236}">
                <a16:creationId xmlns:a16="http://schemas.microsoft.com/office/drawing/2014/main" id="{8413F481-76B5-4701-A725-BC7FF2E90915}"/>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Indexed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Original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0.8093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29.55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4.98x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0.7787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0.7504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28.59x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142.25x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0.6878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0.6304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2.73x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13.58x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0.9883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0.8544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0.8283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16.96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8.67x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0.8102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5.19x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0.7646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24.82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5.92x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6.90x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0.9922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0.8009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18.59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1.59x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7.91x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B156B26F-9244-414D-AA6E-D936062B8918}"/>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256 fixed questions, 20,958 documents, three indexed passes.</a:t>
            </a:r>
          </a:p>
        </p:txBody>
      </p:sp>
    </p:spTree>
    <p:extLst>
      <p:ext uri="{BB962C8B-B14F-4D97-AF65-F5344CB8AC3E}">
        <p14:creationId xmlns:p14="http://schemas.microsoft.com/office/powerpoint/2010/main" val="567254123"/>
      </p:ext>
    </p:extLst>
  </p:cSld>
</p:sld>
</file>

<file path=ppt/slides/slide2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DA9A28-550C-4B10-841D-E8B1BA7F841F}"/>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primary references</a:t>
            </a:r>
          </a:p>
        </p:txBody>
      </p:sp>
      <p:sp>
        <p:nvSpPr>
          <p:cNvPr id="2" name="">
            <a:extLst xmlns:a="http://schemas.openxmlformats.org/drawingml/2006/main">
              <a:ext uri="{FF2B5EF4-FFF2-40B4-BE49-F238E27FC236}">
                <a16:creationId xmlns:a16="http://schemas.microsoft.com/office/drawing/2014/main" id="{FDD1FF8E-5125-4540-9600-123351249CC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22</a:t>
            </a:r>
          </a:p>
        </p:txBody>
      </p:sp>
      <p:sp>
        <p:nvSpPr>
          <p:cNvPr id="3" name="">
            <a:extLst xmlns:a="http://schemas.openxmlformats.org/drawingml/2006/main">
              <a:ext uri="{FF2B5EF4-FFF2-40B4-BE49-F238E27FC236}">
                <a16:creationId xmlns:a16="http://schemas.microsoft.com/office/drawing/2014/main" id="{9B65D72C-C72B-4686-AE18-D8B232453064}"/>
              </a:ext>
            </a:extLst>
          </p:cNvPr>
          <p:cNvSpPr>
            <a:spLocks xmlns:a="http://schemas.openxmlformats.org/drawingml/2006/main" noGrp="1"/>
          </p:cNvSpPr>
          <p:nvPr/>
        </p:nvSpPr>
        <p:spPr>
          <a:xfrm xmlns:a="http://schemas.openxmlformats.org/drawingml/2006/main">
            <a:off x="609600" y="1657350"/>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42B2B"/>
                </a:solidFill>
                <a:latin typeface="IBM Plex Sans"/>
                <a:ea typeface="IBM Plex Sans"/>
                <a:cs typeface="IBM Plex Sans"/>
              </a:defRPr>
            </a:defPPr>
          </a:lstStyle>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Sawarkar et al.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Blended RAG</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Arabzadeh et al. (2021)</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Retrieval strategy selection</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Lu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BM25S eager sparse scoring</a:t>
            </a:r>
          </a:p>
        </p:txBody>
      </p:sp>
      <p:sp>
        <p:nvSpPr>
          <p:cNvPr id="4" name="">
            <a:extLst xmlns:a="http://schemas.openxmlformats.org/drawingml/2006/main">
              <a:ext uri="{FF2B5EF4-FFF2-40B4-BE49-F238E27FC236}">
                <a16:creationId xmlns:a16="http://schemas.microsoft.com/office/drawing/2014/main" id="{DBC97059-F919-49F4-9D21-8B5C4463B4D3}"/>
              </a:ext>
            </a:extLst>
          </p:cNvPr>
          <p:cNvSpPr>
            <a:spLocks xmlns:a="http://schemas.openxmlformats.org/drawingml/2006/main" noGrp="1"/>
          </p:cNvSpPr>
          <p:nvPr/>
        </p:nvSpPr>
        <p:spPr>
          <a:xfrm xmlns:a="http://schemas.openxmlformats.org/drawingml/2006/main">
            <a:off x="6334125" y="1657350"/>
            <a:ext cx="5238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2B2B"/>
                </a:solidFill>
                <a:latin typeface="IBM Plex Sans"/>
                <a:ea typeface="IBM Plex Sans"/>
                <a:cs typeface="IBM Plex Sans"/>
              </a:defRPr>
            </a:defPPr>
          </a:lstStyle>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Thakur et al. (2021)</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BEIR benchmark</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Rajpurkar et al. (2016)</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SQuAD</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Formal et al. (2021) / Reimers &amp; Gurevych (2019)</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SPLADE / Sentence-BERT</a:t>
            </a:r>
          </a:p>
        </p:txBody>
      </p:sp>
      <p:sp>
        <p:nvSpPr>
          <p:cNvPr id="5" name="">
            <a:extLst xmlns:a="http://schemas.openxmlformats.org/drawingml/2006/main">
              <a:ext uri="{FF2B5EF4-FFF2-40B4-BE49-F238E27FC236}">
                <a16:creationId xmlns:a16="http://schemas.microsoft.com/office/drawing/2014/main" id="{89B1F575-733B-4C4C-AE58-8F5B880CD83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Full URLs and source details are in speaker notes and the research paper.</a:t>
            </a:r>
          </a:p>
        </p:txBody>
      </p:sp>
    </p:spTree>
    <p:extLst>
      <p:ext uri="{BB962C8B-B14F-4D97-AF65-F5344CB8AC3E}">
        <p14:creationId xmlns:p14="http://schemas.microsoft.com/office/powerpoint/2010/main" val="794954566"/>
      </p:ext>
    </p:extLst>
  </p:cSld>
</p:sld>
</file>

<file path=ppt/slides/slide2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F25199-2C1E-44CB-A825-6F74672F359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rebuilding the report</a:t>
            </a:r>
          </a:p>
        </p:txBody>
      </p:sp>
      <p:sp>
        <p:nvSpPr>
          <p:cNvPr id="2" name="">
            <a:extLst xmlns:a="http://schemas.openxmlformats.org/drawingml/2006/main">
              <a:ext uri="{FF2B5EF4-FFF2-40B4-BE49-F238E27FC236}">
                <a16:creationId xmlns:a16="http://schemas.microsoft.com/office/drawing/2014/main" id="{F9E94094-7FA9-46C2-B2B6-424665424689}"/>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23</a:t>
            </a:r>
          </a:p>
        </p:txBody>
      </p:sp>
      <p:sp>
        <p:nvSpPr>
          <p:cNvPr id="3" name="">
            <a:extLst xmlns:a="http://schemas.openxmlformats.org/drawingml/2006/main">
              <a:ext uri="{FF2B5EF4-FFF2-40B4-BE49-F238E27FC236}">
                <a16:creationId xmlns:a16="http://schemas.microsoft.com/office/drawing/2014/main" id="{ED2EBF77-FD83-45ED-B4CF-0E488B225090}"/>
              </a:ext>
            </a:extLst>
          </p:cNvPr>
          <p:cNvSpPr>
            <a:spLocks xmlns:a="http://schemas.openxmlformats.org/drawingml/2006/main" noGrp="1"/>
          </p:cNvSpPr>
          <p:nvPr/>
        </p:nvSpPr>
        <p:spPr>
          <a:xfrm xmlns:a="http://schemas.openxmlformats.org/drawingml/2006/main">
            <a:off x="609600" y="1676400"/>
            <a:ext cx="10763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42B2B"/>
                </a:solidFill>
                <a:latin typeface="IBM Plex Sans"/>
                <a:ea typeface="IBM Plex Sans"/>
                <a:cs typeface="IBM Plex Sans"/>
              </a:defRPr>
            </a:defPPr>
          </a:lstStyle>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1  Figures from saved reports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experiments/32_prepare_report_assets.py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2  Release artifacts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tools/build_research_materials.py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3  Editable deck and print showcase</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tools/build_research_presentation.mjs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tools/render_showcase.mjs</a:t>
            </a:r>
          </a:p>
        </p:txBody>
      </p:sp>
      <p:sp>
        <p:nvSpPr>
          <p:cNvPr id="4" name="">
            <a:extLst xmlns:a="http://schemas.openxmlformats.org/drawingml/2006/main">
              <a:ext uri="{FF2B5EF4-FFF2-40B4-BE49-F238E27FC236}">
                <a16:creationId xmlns:a16="http://schemas.microsoft.com/office/drawing/2014/main" id="{BE86AD80-B976-40F4-BEB4-1C2D43284639}"/>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See final_results/README.md for exact commands and runtime requirements.</a:t>
            </a:r>
          </a:p>
        </p:txBody>
      </p:sp>
    </p:spTree>
    <p:extLst>
      <p:ext uri="{BB962C8B-B14F-4D97-AF65-F5344CB8AC3E}">
        <p14:creationId xmlns:p14="http://schemas.microsoft.com/office/powerpoint/2010/main" val="407159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2026-10-21T17:37:17.3260000Z</dcterms:created>
  <dcterms:modified xsi:type="dcterms:W3CDTF">2026-10-21T17:37:17.3260000Z</dcterms:modified>
</coreProperties>
</file>